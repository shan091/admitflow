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9cbbcf28f24b51" /><Relationship Type="http://schemas.openxmlformats.org/officeDocument/2006/relationships/extended-properties" Target="/docProps/app.xml" Id="R058876acad22479e" /><Relationship Type="http://schemas.openxmlformats.org/officeDocument/2006/relationships/officeDocument" Target="/ppt/presentation.xml" Id="R226abb2b7a3946c9" /></Relationships>
</file>

<file path=ppt/presentation.xml><?xml version="1.0" encoding="utf-8"?>
<p:presentation xmlns:p="http://schemas.openxmlformats.org/presentationml/2006/main">
  <p:sldMasterIdLst>
    <p:sldMasterId xmlns:r="http://schemas.openxmlformats.org/officeDocument/2006/relationships" id="2147483648" r:id="R5e84278f64e84eca"/>
  </p:sldMasterIdLst>
  <p:notesMasterIdLst>
    <p:notesMasterId xmlns:r="http://schemas.openxmlformats.org/officeDocument/2006/relationships" r:id="R37aabec0dc5443d2"/>
  </p:notesMasterIdLst>
  <p:sldIdLst>
    <p:sldId xmlns:r="http://schemas.openxmlformats.org/officeDocument/2006/relationships" id="256" r:id="Rdd598034ab5546d7"/>
    <p:sldId xmlns:r="http://schemas.openxmlformats.org/officeDocument/2006/relationships" id="257" r:id="R8ed62019525a4a12"/>
    <p:sldId xmlns:r="http://schemas.openxmlformats.org/officeDocument/2006/relationships" id="258" r:id="Rbe2cba69cf894def"/>
    <p:sldId xmlns:r="http://schemas.openxmlformats.org/officeDocument/2006/relationships" id="259" r:id="R7929c9af5e204ccc"/>
    <p:sldId xmlns:r="http://schemas.openxmlformats.org/officeDocument/2006/relationships" id="260" r:id="R5d256a5448b247fa"/>
    <p:sldId xmlns:r="http://schemas.openxmlformats.org/officeDocument/2006/relationships" id="261" r:id="R99c6c23cd47841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e6713616bd4626" /><Relationship Type="http://schemas.openxmlformats.org/officeDocument/2006/relationships/slideMaster" Target="/ppt/slideMasters/slideMaster1.xml" Id="R5e84278f64e84eca" /><Relationship Type="http://schemas.openxmlformats.org/officeDocument/2006/relationships/notesMaster" Target="/ppt/notesMasters/notesMaster1.xml" Id="R37aabec0dc5443d2" /><Relationship Type="http://schemas.openxmlformats.org/officeDocument/2006/relationships/presProps" Target="/ppt/presProps.xml" Id="R653486546da544a2" /><Relationship Type="http://schemas.openxmlformats.org/officeDocument/2006/relationships/tableStyles" Target="/ppt/tableStyles.xml" Id="Rf1b69569c78d4189" /><Relationship Type="http://schemas.openxmlformats.org/officeDocument/2006/relationships/slide" Target="/ppt/slides/slide1.xml" Id="Rdd598034ab5546d7" /><Relationship Type="http://schemas.openxmlformats.org/officeDocument/2006/relationships/slide" Target="/ppt/slides/slide2.xml" Id="R8ed62019525a4a12" /><Relationship Type="http://schemas.openxmlformats.org/officeDocument/2006/relationships/slide" Target="/ppt/slides/slide3.xml" Id="Rbe2cba69cf894def" /><Relationship Type="http://schemas.openxmlformats.org/officeDocument/2006/relationships/slide" Target="/ppt/slides/slide4.xml" Id="R7929c9af5e204ccc" /><Relationship Type="http://schemas.openxmlformats.org/officeDocument/2006/relationships/slide" Target="/ppt/slides/slide5.xml" Id="R5d256a5448b247fa" /><Relationship Type="http://schemas.openxmlformats.org/officeDocument/2006/relationships/slide" Target="/ppt/slides/slide6.xml" Id="R99c6c23cd478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52a1907b234e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98b690bdf044da" /><Relationship Type="http://schemas.openxmlformats.org/officeDocument/2006/relationships/notesMaster" Target="/ppt/notesMasters/notesMaster1.xml" Id="R5b72420e0efc41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5d1db55d3d4628" /><Relationship Type="http://schemas.openxmlformats.org/officeDocument/2006/relationships/notesMaster" Target="/ppt/notesMasters/notesMaster1.xml" Id="Rbf848e6017714b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bb446ea2e6464d" /><Relationship Type="http://schemas.openxmlformats.org/officeDocument/2006/relationships/notesMaster" Target="/ppt/notesMasters/notesMaster1.xml" Id="Rfea027d6e4fb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0cc73386e04764" /><Relationship Type="http://schemas.openxmlformats.org/officeDocument/2006/relationships/notesMaster" Target="/ppt/notesMasters/notesMaster1.xml" Id="Rf7feb3c6bcd443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4f0d55d2154d72" /><Relationship Type="http://schemas.openxmlformats.org/officeDocument/2006/relationships/notesMaster" Target="/ppt/notesMasters/notesMaster1.xml" Id="R57221589eccf47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5ac26188fa41e4" /><Relationship Type="http://schemas.openxmlformats.org/officeDocument/2006/relationships/notesMaster" Target="/ppt/notesMasters/notesMaster1.xml" Id="Rcc8042cba4b24f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Owner name supplied by the user: shan. The demonstration uses synthetic institution and student data. Existing foundation work must be disclosed to the organizers. The local bot and app require the local services; no production deployment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This problem statement is a product hypothesis, not interview or market-validation evidence. Proposed initial users are admissions teams in Kerala institutions. The insight is to retain conversational context and code-evaluated rules across the student/staff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Screenshot captured from the actual isolated Compose staff app, using the seeded synthetic institution. No mock responses or live applicant data were used. Applications/review, staff takeover/co-pilot, consent-aware follow-ups and management are implemented. Actual Razorpay card/webhook/Telegram validation is still pending. Eligibility does not confer admission or reserve a seat.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Actual upload control screenshot from the isolated Compose app. Docling performs offline CPU layout/table extraction and heading recovery; semantic chunking repeats ancestor and column headers. Real complex-PDF PostgreSQL publication and live native Redis/Docling/OpenAI/search checks pass. This is bounded fixture evidence, not a guarantee for every PDF layout. The owner confirmed a Lotus Hall answer from the uploaded synthetic PDF. Student replies omit source footers; internal evidence and staff search sources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Validation scope: 252 default tests, strict typing across 117 source files, 87 PostgreSQL cases including the real layout model, two separate Redis checks, frontend lint/build, live OpenAI structured output and 1536-dimensional embeddings. Required reranking preserves the relevance floor and falls back to filtered retrieval on timeout/refusal. Multi-tenant staff sessions, encrypted identifiers/conversations and scoped deletion/retention are implemented. General language fluency, real-applicant outcomes and production readiness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https://github.com/Shan091/admitflow/tree/f532f1cf9ada099c9bbb2bda8fef277aeb162c3a . See SPEC.md, tasks/todo.md and docs/event evidence. GTM proposal: recruit one institution through direct admissions-team interviews, obtain permission for institution references and a bounded pilot, then evaluate usefulness before setting prices. No revenue, customers or measured conversion improvement are claimed. Public deployment is on hold until the owner explicitly authorizes it. Final organizer prior-work permission, portal details and a final working-build recording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05b0589d0b45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67524b1d6f4f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a84319e9ce47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140915e7ee4e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19f45af5d240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8b3e6571fe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A56697-E795-4918-91A4-4CAEE18B4A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EDD60F-AD1C-45FA-BA72-CAA4A0EEB8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3A6805-7BF3-4093-A9BB-B93ADBCDD7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C2FE82-DE7F-4B2E-9663-145279BE55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E5651FA-030F-4A81-9164-FE19A9D975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FF0A7C-FF59-40C7-8610-37E282F11F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9264AC-87F3-4AD0-809F-DE4A653AAE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3FF264-BA80-4948-986F-07ACC35AE9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7081C3-4166-4B1D-BB97-232FEA4ACB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FE963C-B96E-4FFA-A90D-B85CF68BFA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23a2c33c384000" /><Relationship Type="http://schemas.openxmlformats.org/officeDocument/2006/relationships/slideLayout" Target="/ppt/slideLayouts/slideLayout1.xml" Id="Re3464de1b5e74621" /><Relationship Type="http://schemas.openxmlformats.org/officeDocument/2006/relationships/slideLayout" Target="/ppt/slideLayouts/slideLayout2.xml" Id="R54a38b67ea4e4d03" /><Relationship Type="http://schemas.openxmlformats.org/officeDocument/2006/relationships/slideLayout" Target="/ppt/slideLayouts/slideLayout3.xml" Id="Ra2713c808f2749d5" /><Relationship Type="http://schemas.openxmlformats.org/officeDocument/2006/relationships/slideLayout" Target="/ppt/slideLayouts/slideLayout4.xml" Id="Rca64a91d15af4546" /><Relationship Type="http://schemas.openxmlformats.org/officeDocument/2006/relationships/slideLayout" Target="/ppt/slideLayouts/slideLayout5.xml" Id="R5fdb68a9adac4d05" /><Relationship Type="http://schemas.openxmlformats.org/officeDocument/2006/relationships/slideLayout" Target="/ppt/slideLayouts/slideLayout6.xml" Id="Re7a25f6fc79340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464de1b5e74621"/>
    <p:sldLayoutId xmlns:r="http://schemas.openxmlformats.org/officeDocument/2006/relationships" id="2147483650" r:id="R54a38b67ea4e4d03"/>
    <p:sldLayoutId xmlns:r="http://schemas.openxmlformats.org/officeDocument/2006/relationships" id="2147483651" r:id="Ra2713c808f2749d5"/>
    <p:sldLayoutId xmlns:r="http://schemas.openxmlformats.org/officeDocument/2006/relationships" id="2147483652" r:id="Rca64a91d15af4546"/>
    <p:sldLayoutId xmlns:r="http://schemas.openxmlformats.org/officeDocument/2006/relationships" id="2147483653" r:id="R5fdb68a9adac4d05"/>
    <p:sldLayoutId xmlns:r="http://schemas.openxmlformats.org/officeDocument/2006/relationships" id="2147483654" r:id="Re7a25f6fc79340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e80b0a02dc4e6f" /><Relationship Type="http://schemas.openxmlformats.org/officeDocument/2006/relationships/notesSlide" Target="/ppt/notesSlides/notesSlide1.xml" Id="R18e7eb2511cf49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32139ec2b243da" /><Relationship Type="http://schemas.openxmlformats.org/officeDocument/2006/relationships/notesSlide" Target="/ppt/notesSlides/notesSlide2.xml" Id="R6f17c3e8852e44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52b12a13a44414" /><Relationship Type="http://schemas.openxmlformats.org/officeDocument/2006/relationships/image" Target="/ppt/media/image.png" Id="R5a39e8ebb0994bf2" /><Relationship Type="http://schemas.openxmlformats.org/officeDocument/2006/relationships/notesSlide" Target="/ppt/notesSlides/notesSlide3.xml" Id="R627e4261afda48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b5fa6b81b745a6" /><Relationship Type="http://schemas.openxmlformats.org/officeDocument/2006/relationships/image" Target="/ppt/media/image2.png" Id="R3aeba7b2afc6442d" /><Relationship Type="http://schemas.openxmlformats.org/officeDocument/2006/relationships/notesSlide" Target="/ppt/notesSlides/notesSlide4.xml" Id="R704608c246254e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bdadd97d384386" /><Relationship Type="http://schemas.openxmlformats.org/officeDocument/2006/relationships/notesSlide" Target="/ppt/notesSlides/notesSlide5.xml" Id="Rd9195d96f28e42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d63ac8bc634cd0" /><Relationship Type="http://schemas.openxmlformats.org/officeDocument/2006/relationships/notesSlide" Target="/ppt/notesSlides/notesSlide6.xml" Id="Rd02bdca341cd471f" /></Relationships>
</file>

<file path=ppt/slides/slide1.xml><?xml version="1.0" encoding="utf-8"?>
<p:sld xmlns:p="http://schemas.openxmlformats.org/presentationml/2006/main">
  <p:cSld>
    <p:bg>
      <p:bgPr>
        <a:solidFill xmlns:a="http://schemas.openxmlformats.org/drawingml/2006/main">
          <a:srgbClr val="1763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99D214-BDE1-45DA-BF94-79D3DE90729A}"/>
              </a:ext>
            </a:extLst>
          </p:cNvPr>
          <p:cNvSpPr>
            <a:spLocks xmlns:a="http://schemas.openxmlformats.org/drawingml/2006/main" noGrp="1"/>
          </p:cNvSpPr>
          <p:nvPr/>
        </p:nvSpPr>
        <p:spPr>
          <a:xfrm xmlns:a="http://schemas.openxmlformats.org/drawingml/2006/main">
            <a:off x="685800" y="1581150"/>
            <a:ext cx="10820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100" b="1">
                <a:solidFill>
                  <a:srgbClr val="FCFCF9"/>
                </a:solidFill>
                <a:latin typeface="Arial"/>
                <a:ea typeface="Arial"/>
                <a:cs typeface="Arial"/>
              </a:defRPr>
            </a:defPPr>
            <a:lvl1pPr>
              <a:defRPr sz="8100" b="1">
                <a:solidFill>
                  <a:srgbClr val="FCFCF9"/>
                </a:solidFill>
                <a:latin typeface="Arial"/>
                <a:ea typeface="Arial"/>
                <a:cs typeface="Arial"/>
              </a:defRPr>
            </a:lvl1pPr>
            <a:lvl2pPr>
              <a:defRPr sz="8100" b="1">
                <a:solidFill>
                  <a:srgbClr val="FCFCF9"/>
                </a:solidFill>
                <a:latin typeface="Arial"/>
                <a:ea typeface="Arial"/>
                <a:cs typeface="Arial"/>
              </a:defRPr>
            </a:lvl2pPr>
            <a:lvl3pPr>
              <a:defRPr sz="8100" b="1">
                <a:solidFill>
                  <a:srgbClr val="FCFCF9"/>
                </a:solidFill>
                <a:latin typeface="Arial"/>
                <a:ea typeface="Arial"/>
                <a:cs typeface="Arial"/>
              </a:defRPr>
            </a:lvl3pPr>
            <a:lvl4pPr>
              <a:defRPr sz="8100" b="1">
                <a:solidFill>
                  <a:srgbClr val="FCFCF9"/>
                </a:solidFill>
                <a:latin typeface="Arial"/>
                <a:ea typeface="Arial"/>
                <a:cs typeface="Arial"/>
              </a:defRPr>
            </a:lvl4pPr>
            <a:lvl5pPr>
              <a:defRPr sz="8100" b="1">
                <a:solidFill>
                  <a:srgbClr val="FCFCF9"/>
                </a:solidFill>
                <a:latin typeface="Arial"/>
                <a:ea typeface="Arial"/>
                <a:cs typeface="Arial"/>
              </a:defRPr>
            </a:lvl5pPr>
            <a:lvl6pPr>
              <a:defRPr sz="8100" b="1">
                <a:solidFill>
                  <a:srgbClr val="FCFCF9"/>
                </a:solidFill>
                <a:latin typeface="Arial"/>
                <a:ea typeface="Arial"/>
                <a:cs typeface="Arial"/>
              </a:defRPr>
            </a:lvl6pPr>
            <a:lvl7pPr>
              <a:defRPr sz="8100" b="1">
                <a:solidFill>
                  <a:srgbClr val="FCFCF9"/>
                </a:solidFill>
                <a:latin typeface="Arial"/>
                <a:ea typeface="Arial"/>
                <a:cs typeface="Arial"/>
              </a:defRPr>
            </a:lvl7pPr>
            <a:lvl8pPr>
              <a:defRPr sz="8100" b="1">
                <a:solidFill>
                  <a:srgbClr val="FCFCF9"/>
                </a:solidFill>
                <a:latin typeface="Arial"/>
                <a:ea typeface="Arial"/>
                <a:cs typeface="Arial"/>
              </a:defRPr>
            </a:lvl8pPr>
            <a:lvl9pPr>
              <a:defRPr sz="8100" b="1">
                <a:solidFill>
                  <a:srgbClr val="FCFCF9"/>
                </a:solidFill>
                <a:latin typeface="Arial"/>
                <a:ea typeface="Arial"/>
                <a:cs typeface="Arial"/>
              </a:defRPr>
            </a:lvl9pPr>
          </a:lstStyle>
          <a:p xmlns:a="http://schemas.openxmlformats.org/drawingml/2006/main">
            <a:pPr>
              <a:defRPr sz="8100" b="1">
                <a:solidFill>
                  <a:srgbClr val="FCFCF9"/>
                </a:solidFill>
                <a:latin typeface="Arial"/>
                <a:ea typeface="Arial"/>
                <a:cs typeface="Arial"/>
              </a:defRPr>
            </a:pPr>
            <a:r>
              <a:rPr sz="8100" b="1">
                <a:solidFill>
                  <a:srgbClr val="FCFCF9"/>
                </a:solidFill>
                <a:latin typeface="Arial"/>
                <a:ea typeface="Arial"/>
                <a:cs typeface="Arial"/>
              </a:rPr>
              <a:t>AdmitFlow</a:t>
            </a:r>
          </a:p>
        </p:txBody>
      </p:sp>
      <p:sp>
        <p:nvSpPr>
          <p:cNvPr id="2" name="">
            <a:extLst xmlns:a="http://schemas.openxmlformats.org/drawingml/2006/main">
              <a:ext uri="{FF2B5EF4-FFF2-40B4-BE49-F238E27FC236}">
                <a16:creationId xmlns:a16="http://schemas.microsoft.com/office/drawing/2014/main" id="{38B02600-7751-4008-99DA-CB44507E6F1F}"/>
              </a:ext>
            </a:extLst>
          </p:cNvPr>
          <p:cNvSpPr>
            <a:spLocks xmlns:a="http://schemas.openxmlformats.org/drawingml/2006/main" noGrp="1"/>
          </p:cNvSpPr>
          <p:nvPr/>
        </p:nvSpPr>
        <p:spPr>
          <a:xfrm xmlns:a="http://schemas.openxmlformats.org/drawingml/2006/main">
            <a:off x="742950" y="32385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0">
                <a:solidFill>
                  <a:srgbClr val="FCFCF9"/>
                </a:solidFill>
                <a:latin typeface="Arial"/>
                <a:ea typeface="Arial"/>
                <a:cs typeface="Arial"/>
              </a:defRPr>
            </a:defPPr>
            <a:lvl1pPr>
              <a:defRPr sz="3600" b="0">
                <a:solidFill>
                  <a:srgbClr val="FCFCF9"/>
                </a:solidFill>
                <a:latin typeface="Arial"/>
                <a:ea typeface="Arial"/>
                <a:cs typeface="Arial"/>
              </a:defRPr>
            </a:lvl1pPr>
            <a:lvl2pPr>
              <a:defRPr sz="3600" b="0">
                <a:solidFill>
                  <a:srgbClr val="FCFCF9"/>
                </a:solidFill>
                <a:latin typeface="Arial"/>
                <a:ea typeface="Arial"/>
                <a:cs typeface="Arial"/>
              </a:defRPr>
            </a:lvl2pPr>
            <a:lvl3pPr>
              <a:defRPr sz="3600" b="0">
                <a:solidFill>
                  <a:srgbClr val="FCFCF9"/>
                </a:solidFill>
                <a:latin typeface="Arial"/>
                <a:ea typeface="Arial"/>
                <a:cs typeface="Arial"/>
              </a:defRPr>
            </a:lvl3pPr>
            <a:lvl4pPr>
              <a:defRPr sz="3600" b="0">
                <a:solidFill>
                  <a:srgbClr val="FCFCF9"/>
                </a:solidFill>
                <a:latin typeface="Arial"/>
                <a:ea typeface="Arial"/>
                <a:cs typeface="Arial"/>
              </a:defRPr>
            </a:lvl4pPr>
            <a:lvl5pPr>
              <a:defRPr sz="3600" b="0">
                <a:solidFill>
                  <a:srgbClr val="FCFCF9"/>
                </a:solidFill>
                <a:latin typeface="Arial"/>
                <a:ea typeface="Arial"/>
                <a:cs typeface="Arial"/>
              </a:defRPr>
            </a:lvl5pPr>
            <a:lvl6pPr>
              <a:defRPr sz="3600" b="0">
                <a:solidFill>
                  <a:srgbClr val="FCFCF9"/>
                </a:solidFill>
                <a:latin typeface="Arial"/>
                <a:ea typeface="Arial"/>
                <a:cs typeface="Arial"/>
              </a:defRPr>
            </a:lvl6pPr>
            <a:lvl7pPr>
              <a:defRPr sz="3600" b="0">
                <a:solidFill>
                  <a:srgbClr val="FCFCF9"/>
                </a:solidFill>
                <a:latin typeface="Arial"/>
                <a:ea typeface="Arial"/>
                <a:cs typeface="Arial"/>
              </a:defRPr>
            </a:lvl7pPr>
            <a:lvl8pPr>
              <a:defRPr sz="3600" b="0">
                <a:solidFill>
                  <a:srgbClr val="FCFCF9"/>
                </a:solidFill>
                <a:latin typeface="Arial"/>
                <a:ea typeface="Arial"/>
                <a:cs typeface="Arial"/>
              </a:defRPr>
            </a:lvl8pPr>
            <a:lvl9pPr>
              <a:defRPr sz="3600" b="0">
                <a:solidFill>
                  <a:srgbClr val="FCFCF9"/>
                </a:solidFill>
                <a:latin typeface="Arial"/>
                <a:ea typeface="Arial"/>
                <a:cs typeface="Arial"/>
              </a:defRPr>
            </a:lvl9pPr>
          </a:lstStyle>
          <a:p xmlns:a="http://schemas.openxmlformats.org/drawingml/2006/main">
            <a:pPr>
              <a:defRPr sz="3600" b="0">
                <a:solidFill>
                  <a:srgbClr val="FCFCF9"/>
                </a:solidFill>
                <a:latin typeface="Arial"/>
                <a:ea typeface="Arial"/>
                <a:cs typeface="Arial"/>
              </a:defRPr>
            </a:pPr>
            <a:r>
              <a:rPr sz="3600" b="0">
                <a:solidFill>
                  <a:srgbClr val="FCFCF9"/>
                </a:solidFill>
                <a:latin typeface="Arial"/>
                <a:ea typeface="Arial"/>
                <a:cs typeface="Arial"/>
              </a:rPr>
              <a:t>Admissions conversations</a:t>
            </a:r>
          </a:p>
          <a:p xmlns:a="http://schemas.openxmlformats.org/drawingml/2006/main">
            <a:pPr>
              <a:defRPr sz="3600" b="0">
                <a:solidFill>
                  <a:srgbClr val="FCFCF9"/>
                </a:solidFill>
                <a:latin typeface="Arial"/>
                <a:ea typeface="Arial"/>
                <a:cs typeface="Arial"/>
              </a:defRPr>
            </a:pPr>
            <a:r>
              <a:rPr sz="3600" b="0">
                <a:solidFill>
                  <a:srgbClr val="FCFCF9"/>
                </a:solidFill>
                <a:latin typeface="Arial"/>
                <a:ea typeface="Arial"/>
                <a:cs typeface="Arial"/>
              </a:rPr>
              <a:t>with context for your team</a:t>
            </a:r>
          </a:p>
        </p:txBody>
      </p:sp>
      <p:sp>
        <p:nvSpPr>
          <p:cNvPr id="3" name="">
            <a:extLst xmlns:a="http://schemas.openxmlformats.org/drawingml/2006/main">
              <a:ext uri="{FF2B5EF4-FFF2-40B4-BE49-F238E27FC236}">
                <a16:creationId xmlns:a16="http://schemas.microsoft.com/office/drawing/2014/main" id="{333B39C0-BBC6-4C2A-930A-FB105ADECBBC}"/>
              </a:ext>
            </a:extLst>
          </p:cNvPr>
          <p:cNvSpPr>
            <a:spLocks xmlns:a="http://schemas.openxmlformats.org/drawingml/2006/main" noGrp="1"/>
          </p:cNvSpPr>
          <p:nvPr/>
        </p:nvSpPr>
        <p:spPr>
          <a:xfrm xmlns:a="http://schemas.openxmlformats.org/drawingml/2006/main">
            <a:off x="742950" y="48577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FCFCF9"/>
                </a:solidFill>
                <a:latin typeface="Arial"/>
                <a:ea typeface="Arial"/>
                <a:cs typeface="Arial"/>
              </a:defRPr>
            </a:defPPr>
            <a:lvl1pPr>
              <a:defRPr sz="2250" b="0">
                <a:solidFill>
                  <a:srgbClr val="FCFCF9"/>
                </a:solidFill>
                <a:latin typeface="Arial"/>
                <a:ea typeface="Arial"/>
                <a:cs typeface="Arial"/>
              </a:defRPr>
            </a:lvl1pPr>
            <a:lvl2pPr>
              <a:defRPr sz="2250" b="0">
                <a:solidFill>
                  <a:srgbClr val="FCFCF9"/>
                </a:solidFill>
                <a:latin typeface="Arial"/>
                <a:ea typeface="Arial"/>
                <a:cs typeface="Arial"/>
              </a:defRPr>
            </a:lvl2pPr>
            <a:lvl3pPr>
              <a:defRPr sz="2250" b="0">
                <a:solidFill>
                  <a:srgbClr val="FCFCF9"/>
                </a:solidFill>
                <a:latin typeface="Arial"/>
                <a:ea typeface="Arial"/>
                <a:cs typeface="Arial"/>
              </a:defRPr>
            </a:lvl3pPr>
            <a:lvl4pPr>
              <a:defRPr sz="2250" b="0">
                <a:solidFill>
                  <a:srgbClr val="FCFCF9"/>
                </a:solidFill>
                <a:latin typeface="Arial"/>
                <a:ea typeface="Arial"/>
                <a:cs typeface="Arial"/>
              </a:defRPr>
            </a:lvl4pPr>
            <a:lvl5pPr>
              <a:defRPr sz="2250" b="0">
                <a:solidFill>
                  <a:srgbClr val="FCFCF9"/>
                </a:solidFill>
                <a:latin typeface="Arial"/>
                <a:ea typeface="Arial"/>
                <a:cs typeface="Arial"/>
              </a:defRPr>
            </a:lvl5pPr>
            <a:lvl6pPr>
              <a:defRPr sz="2250" b="0">
                <a:solidFill>
                  <a:srgbClr val="FCFCF9"/>
                </a:solidFill>
                <a:latin typeface="Arial"/>
                <a:ea typeface="Arial"/>
                <a:cs typeface="Arial"/>
              </a:defRPr>
            </a:lvl6pPr>
            <a:lvl7pPr>
              <a:defRPr sz="2250" b="0">
                <a:solidFill>
                  <a:srgbClr val="FCFCF9"/>
                </a:solidFill>
                <a:latin typeface="Arial"/>
                <a:ea typeface="Arial"/>
                <a:cs typeface="Arial"/>
              </a:defRPr>
            </a:lvl7pPr>
            <a:lvl8pPr>
              <a:defRPr sz="2250" b="0">
                <a:solidFill>
                  <a:srgbClr val="FCFCF9"/>
                </a:solidFill>
                <a:latin typeface="Arial"/>
                <a:ea typeface="Arial"/>
                <a:cs typeface="Arial"/>
              </a:defRPr>
            </a:lvl8pPr>
            <a:lvl9pPr>
              <a:defRPr sz="2250" b="0">
                <a:solidFill>
                  <a:srgbClr val="FCFCF9"/>
                </a:solidFill>
                <a:latin typeface="Arial"/>
                <a:ea typeface="Arial"/>
                <a:cs typeface="Arial"/>
              </a:defRPr>
            </a:lvl9pPr>
          </a:lstStyle>
          <a:p xmlns:a="http://schemas.openxmlformats.org/drawingml/2006/main">
            <a:pPr>
              <a:defRPr sz="2250" b="0">
                <a:solidFill>
                  <a:srgbClr val="FCFCF9"/>
                </a:solidFill>
                <a:latin typeface="Arial"/>
                <a:ea typeface="Arial"/>
                <a:cs typeface="Arial"/>
              </a:defRPr>
            </a:pPr>
            <a:r>
              <a:rPr sz="2250" b="0">
                <a:solidFill>
                  <a:srgbClr val="FCFCF9"/>
                </a:solidFill>
                <a:latin typeface="Arial"/>
                <a:ea typeface="Arial"/>
                <a:cs typeface="Arial"/>
              </a:rPr>
              <a:t>Telegram for students. A workspace for institutions.</a:t>
            </a:r>
          </a:p>
        </p:txBody>
      </p:sp>
      <p:sp>
        <p:nvSpPr>
          <p:cNvPr id="4" name="">
            <a:extLst xmlns:a="http://schemas.openxmlformats.org/drawingml/2006/main">
              <a:ext uri="{FF2B5EF4-FFF2-40B4-BE49-F238E27FC236}">
                <a16:creationId xmlns:a16="http://schemas.microsoft.com/office/drawing/2014/main" id="{30C5003B-1C1D-4AB9-99CC-EEDE3A19B442}"/>
              </a:ext>
            </a:extLst>
          </p:cNvPr>
          <p:cNvSpPr>
            <a:spLocks xmlns:a="http://schemas.openxmlformats.org/drawingml/2006/main" noGrp="1"/>
          </p:cNvSpPr>
          <p:nvPr/>
        </p:nvSpPr>
        <p:spPr>
          <a:xfrm xmlns:a="http://schemas.openxmlformats.org/drawingml/2006/main">
            <a:off x="742950" y="5924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FCFCF9"/>
                </a:solidFill>
                <a:latin typeface="Arial"/>
                <a:ea typeface="Arial"/>
                <a:cs typeface="Arial"/>
              </a:defRPr>
            </a:defPPr>
            <a:lvl1pPr>
              <a:defRPr sz="2100" b="0">
                <a:solidFill>
                  <a:srgbClr val="FCFCF9"/>
                </a:solidFill>
                <a:latin typeface="Arial"/>
                <a:ea typeface="Arial"/>
                <a:cs typeface="Arial"/>
              </a:defRPr>
            </a:lvl1pPr>
            <a:lvl2pPr>
              <a:defRPr sz="2100" b="0">
                <a:solidFill>
                  <a:srgbClr val="FCFCF9"/>
                </a:solidFill>
                <a:latin typeface="Arial"/>
                <a:ea typeface="Arial"/>
                <a:cs typeface="Arial"/>
              </a:defRPr>
            </a:lvl2pPr>
            <a:lvl3pPr>
              <a:defRPr sz="2100" b="0">
                <a:solidFill>
                  <a:srgbClr val="FCFCF9"/>
                </a:solidFill>
                <a:latin typeface="Arial"/>
                <a:ea typeface="Arial"/>
                <a:cs typeface="Arial"/>
              </a:defRPr>
            </a:lvl3pPr>
            <a:lvl4pPr>
              <a:defRPr sz="2100" b="0">
                <a:solidFill>
                  <a:srgbClr val="FCFCF9"/>
                </a:solidFill>
                <a:latin typeface="Arial"/>
                <a:ea typeface="Arial"/>
                <a:cs typeface="Arial"/>
              </a:defRPr>
            </a:lvl4pPr>
            <a:lvl5pPr>
              <a:defRPr sz="2100" b="0">
                <a:solidFill>
                  <a:srgbClr val="FCFCF9"/>
                </a:solidFill>
                <a:latin typeface="Arial"/>
                <a:ea typeface="Arial"/>
                <a:cs typeface="Arial"/>
              </a:defRPr>
            </a:lvl5pPr>
            <a:lvl6pPr>
              <a:defRPr sz="2100" b="0">
                <a:solidFill>
                  <a:srgbClr val="FCFCF9"/>
                </a:solidFill>
                <a:latin typeface="Arial"/>
                <a:ea typeface="Arial"/>
                <a:cs typeface="Arial"/>
              </a:defRPr>
            </a:lvl6pPr>
            <a:lvl7pPr>
              <a:defRPr sz="2100" b="0">
                <a:solidFill>
                  <a:srgbClr val="FCFCF9"/>
                </a:solidFill>
                <a:latin typeface="Arial"/>
                <a:ea typeface="Arial"/>
                <a:cs typeface="Arial"/>
              </a:defRPr>
            </a:lvl7pPr>
            <a:lvl8pPr>
              <a:defRPr sz="2100" b="0">
                <a:solidFill>
                  <a:srgbClr val="FCFCF9"/>
                </a:solidFill>
                <a:latin typeface="Arial"/>
                <a:ea typeface="Arial"/>
                <a:cs typeface="Arial"/>
              </a:defRPr>
            </a:lvl8pPr>
            <a:lvl9pPr>
              <a:defRPr sz="2100" b="0">
                <a:solidFill>
                  <a:srgbClr val="FCFCF9"/>
                </a:solidFill>
                <a:latin typeface="Arial"/>
                <a:ea typeface="Arial"/>
                <a:cs typeface="Arial"/>
              </a:defRPr>
            </a:lvl9pPr>
          </a:lstStyle>
          <a:p xmlns:a="http://schemas.openxmlformats.org/drawingml/2006/main">
            <a:pPr>
              <a:defRPr sz="2100" b="0">
                <a:solidFill>
                  <a:srgbClr val="FCFCF9"/>
                </a:solidFill>
                <a:latin typeface="Arial"/>
                <a:ea typeface="Arial"/>
                <a:cs typeface="Arial"/>
              </a:defRPr>
            </a:pPr>
            <a:r>
              <a:rPr sz="2100" b="0">
                <a:solidFill>
                  <a:srgbClr val="FCFCF9"/>
                </a:solidFill>
                <a:latin typeface="Arial"/>
                <a:ea typeface="Arial"/>
                <a:cs typeface="Arial"/>
              </a:rPr>
              <a:t>shan</a:t>
            </a:r>
          </a:p>
        </p:txBody>
      </p:sp>
    </p:spTree>
    <p:extLst>
      <p:ext uri="{BB962C8B-B14F-4D97-AF65-F5344CB8AC3E}">
        <p14:creationId xmlns:p14="http://schemas.microsoft.com/office/powerpoint/2010/main" val="1816830258"/>
      </p:ext>
    </p:extLst>
  </p:cSld>
</p:sld>
</file>

<file path=ppt/slides/slide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15E2B1-151A-49F3-903C-31E52D15E93C}"/>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7634D"/>
                </a:solidFill>
                <a:latin typeface="Arial"/>
                <a:ea typeface="Arial"/>
                <a:cs typeface="Arial"/>
              </a:defRPr>
            </a:defPPr>
            <a:lvl1pPr>
              <a:defRPr sz="4200" b="1">
                <a:solidFill>
                  <a:srgbClr val="17634D"/>
                </a:solidFill>
                <a:latin typeface="Arial"/>
                <a:ea typeface="Arial"/>
                <a:cs typeface="Arial"/>
              </a:defRPr>
            </a:lvl1pPr>
            <a:lvl2pPr>
              <a:defRPr sz="4200" b="1">
                <a:solidFill>
                  <a:srgbClr val="17634D"/>
                </a:solidFill>
                <a:latin typeface="Arial"/>
                <a:ea typeface="Arial"/>
                <a:cs typeface="Arial"/>
              </a:defRPr>
            </a:lvl2pPr>
            <a:lvl3pPr>
              <a:defRPr sz="4200" b="1">
                <a:solidFill>
                  <a:srgbClr val="17634D"/>
                </a:solidFill>
                <a:latin typeface="Arial"/>
                <a:ea typeface="Arial"/>
                <a:cs typeface="Arial"/>
              </a:defRPr>
            </a:lvl3pPr>
            <a:lvl4pPr>
              <a:defRPr sz="4200" b="1">
                <a:solidFill>
                  <a:srgbClr val="17634D"/>
                </a:solidFill>
                <a:latin typeface="Arial"/>
                <a:ea typeface="Arial"/>
                <a:cs typeface="Arial"/>
              </a:defRPr>
            </a:lvl4pPr>
            <a:lvl5pPr>
              <a:defRPr sz="4200" b="1">
                <a:solidFill>
                  <a:srgbClr val="17634D"/>
                </a:solidFill>
                <a:latin typeface="Arial"/>
                <a:ea typeface="Arial"/>
                <a:cs typeface="Arial"/>
              </a:defRPr>
            </a:lvl5pPr>
            <a:lvl6pPr>
              <a:defRPr sz="4200" b="1">
                <a:solidFill>
                  <a:srgbClr val="17634D"/>
                </a:solidFill>
                <a:latin typeface="Arial"/>
                <a:ea typeface="Arial"/>
                <a:cs typeface="Arial"/>
              </a:defRPr>
            </a:lvl6pPr>
            <a:lvl7pPr>
              <a:defRPr sz="4200" b="1">
                <a:solidFill>
                  <a:srgbClr val="17634D"/>
                </a:solidFill>
                <a:latin typeface="Arial"/>
                <a:ea typeface="Arial"/>
                <a:cs typeface="Arial"/>
              </a:defRPr>
            </a:lvl7pPr>
            <a:lvl8pPr>
              <a:defRPr sz="4200" b="1">
                <a:solidFill>
                  <a:srgbClr val="17634D"/>
                </a:solidFill>
                <a:latin typeface="Arial"/>
                <a:ea typeface="Arial"/>
                <a:cs typeface="Arial"/>
              </a:defRPr>
            </a:lvl8pPr>
            <a:lvl9pPr>
              <a:defRPr sz="4200" b="1">
                <a:solidFill>
                  <a:srgbClr val="17634D"/>
                </a:solidFill>
                <a:latin typeface="Arial"/>
                <a:ea typeface="Arial"/>
                <a:cs typeface="Arial"/>
              </a:defRPr>
            </a:lvl9pPr>
          </a:lstStyle>
          <a:p xmlns:a="http://schemas.openxmlformats.org/drawingml/2006/main">
            <a:pPr>
              <a:defRPr sz="4200" b="1">
                <a:solidFill>
                  <a:srgbClr val="17634D"/>
                </a:solidFill>
                <a:latin typeface="Arial"/>
                <a:ea typeface="Arial"/>
                <a:cs typeface="Arial"/>
              </a:defRPr>
            </a:pPr>
            <a:r>
              <a:rPr sz="4200" b="1">
                <a:solidFill>
                  <a:srgbClr val="17634D"/>
                </a:solidFill>
                <a:latin typeface="Arial"/>
                <a:ea typeface="Arial"/>
                <a:cs typeface="Arial"/>
              </a:rPr>
              <a:t>The admissions handoff</a:t>
            </a:r>
          </a:p>
        </p:txBody>
      </p:sp>
      <p:sp>
        <p:nvSpPr>
          <p:cNvPr id="2" name="">
            <a:extLst xmlns:a="http://schemas.openxmlformats.org/drawingml/2006/main">
              <a:ext uri="{FF2B5EF4-FFF2-40B4-BE49-F238E27FC236}">
                <a16:creationId xmlns:a16="http://schemas.microsoft.com/office/drawing/2014/main" id="{E4E133A8-6014-4961-AD91-EBBA08E677FA}"/>
              </a:ext>
            </a:extLst>
          </p:cNvPr>
          <p:cNvSpPr>
            <a:spLocks xmlns:a="http://schemas.openxmlformats.org/drawingml/2006/main" noGrp="1"/>
          </p:cNvSpPr>
          <p:nvPr/>
        </p:nvSpPr>
        <p:spPr>
          <a:xfrm xmlns:a="http://schemas.openxmlformats.org/drawingml/2006/main">
            <a:off x="685800" y="18859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20332E"/>
                </a:solidFill>
                <a:latin typeface="Arial"/>
                <a:ea typeface="Arial"/>
                <a:cs typeface="Arial"/>
              </a:defRPr>
            </a:defPPr>
            <a:lvl1pPr>
              <a:defRPr sz="3600" b="1">
                <a:solidFill>
                  <a:srgbClr val="20332E"/>
                </a:solidFill>
                <a:latin typeface="Arial"/>
                <a:ea typeface="Arial"/>
                <a:cs typeface="Arial"/>
              </a:defRPr>
            </a:lvl1pPr>
            <a:lvl2pPr>
              <a:defRPr sz="3600" b="1">
                <a:solidFill>
                  <a:srgbClr val="20332E"/>
                </a:solidFill>
                <a:latin typeface="Arial"/>
                <a:ea typeface="Arial"/>
                <a:cs typeface="Arial"/>
              </a:defRPr>
            </a:lvl2pPr>
            <a:lvl3pPr>
              <a:defRPr sz="3600" b="1">
                <a:solidFill>
                  <a:srgbClr val="20332E"/>
                </a:solidFill>
                <a:latin typeface="Arial"/>
                <a:ea typeface="Arial"/>
                <a:cs typeface="Arial"/>
              </a:defRPr>
            </a:lvl3pPr>
            <a:lvl4pPr>
              <a:defRPr sz="3600" b="1">
                <a:solidFill>
                  <a:srgbClr val="20332E"/>
                </a:solidFill>
                <a:latin typeface="Arial"/>
                <a:ea typeface="Arial"/>
                <a:cs typeface="Arial"/>
              </a:defRPr>
            </a:lvl4pPr>
            <a:lvl5pPr>
              <a:defRPr sz="3600" b="1">
                <a:solidFill>
                  <a:srgbClr val="20332E"/>
                </a:solidFill>
                <a:latin typeface="Arial"/>
                <a:ea typeface="Arial"/>
                <a:cs typeface="Arial"/>
              </a:defRPr>
            </a:lvl5pPr>
            <a:lvl6pPr>
              <a:defRPr sz="3600" b="1">
                <a:solidFill>
                  <a:srgbClr val="20332E"/>
                </a:solidFill>
                <a:latin typeface="Arial"/>
                <a:ea typeface="Arial"/>
                <a:cs typeface="Arial"/>
              </a:defRPr>
            </a:lvl6pPr>
            <a:lvl7pPr>
              <a:defRPr sz="3600" b="1">
                <a:solidFill>
                  <a:srgbClr val="20332E"/>
                </a:solidFill>
                <a:latin typeface="Arial"/>
                <a:ea typeface="Arial"/>
                <a:cs typeface="Arial"/>
              </a:defRPr>
            </a:lvl7pPr>
            <a:lvl8pPr>
              <a:defRPr sz="3600" b="1">
                <a:solidFill>
                  <a:srgbClr val="20332E"/>
                </a:solidFill>
                <a:latin typeface="Arial"/>
                <a:ea typeface="Arial"/>
                <a:cs typeface="Arial"/>
              </a:defRPr>
            </a:lvl8pPr>
            <a:lvl9pPr>
              <a:defRPr sz="3600" b="1">
                <a:solidFill>
                  <a:srgbClr val="20332E"/>
                </a:solidFill>
                <a:latin typeface="Arial"/>
                <a:ea typeface="Arial"/>
                <a:cs typeface="Arial"/>
              </a:defRPr>
            </a:lvl9pPr>
          </a:lstStyle>
          <a:p xmlns:a="http://schemas.openxmlformats.org/drawingml/2006/main">
            <a:pPr>
              <a:defRPr sz="3600" b="1">
                <a:solidFill>
                  <a:srgbClr val="20332E"/>
                </a:solidFill>
                <a:latin typeface="Arial"/>
                <a:ea typeface="Arial"/>
                <a:cs typeface="Arial"/>
              </a:defRPr>
            </a:pPr>
            <a:r>
              <a:rPr sz="3600" b="1">
                <a:solidFill>
                  <a:srgbClr val="20332E"/>
                </a:solidFill>
                <a:latin typeface="Arial"/>
                <a:ea typeface="Arial"/>
                <a:cs typeface="Arial"/>
              </a:rPr>
              <a:t>Students ask in chat.</a:t>
            </a:r>
          </a:p>
        </p:txBody>
      </p:sp>
      <p:sp>
        <p:nvSpPr>
          <p:cNvPr id="3" name="">
            <a:extLst xmlns:a="http://schemas.openxmlformats.org/drawingml/2006/main">
              <a:ext uri="{FF2B5EF4-FFF2-40B4-BE49-F238E27FC236}">
                <a16:creationId xmlns:a16="http://schemas.microsoft.com/office/drawing/2014/main" id="{AAAFB310-933B-4C7E-A30B-6DE6C3CC339B}"/>
              </a:ext>
            </a:extLst>
          </p:cNvPr>
          <p:cNvSpPr>
            <a:spLocks xmlns:a="http://schemas.openxmlformats.org/drawingml/2006/main" noGrp="1"/>
          </p:cNvSpPr>
          <p:nvPr/>
        </p:nvSpPr>
        <p:spPr>
          <a:xfrm xmlns:a="http://schemas.openxmlformats.org/drawingml/2006/main">
            <a:off x="685800" y="30003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20332E"/>
                </a:solidFill>
                <a:latin typeface="Arial"/>
                <a:ea typeface="Arial"/>
                <a:cs typeface="Arial"/>
              </a:defRPr>
            </a:defPPr>
            <a:lvl1pPr>
              <a:defRPr sz="2700" b="0">
                <a:solidFill>
                  <a:srgbClr val="20332E"/>
                </a:solidFill>
                <a:latin typeface="Arial"/>
                <a:ea typeface="Arial"/>
                <a:cs typeface="Arial"/>
              </a:defRPr>
            </a:lvl1pPr>
            <a:lvl2pPr>
              <a:defRPr sz="2700" b="0">
                <a:solidFill>
                  <a:srgbClr val="20332E"/>
                </a:solidFill>
                <a:latin typeface="Arial"/>
                <a:ea typeface="Arial"/>
                <a:cs typeface="Arial"/>
              </a:defRPr>
            </a:lvl2pPr>
            <a:lvl3pPr>
              <a:defRPr sz="2700" b="0">
                <a:solidFill>
                  <a:srgbClr val="20332E"/>
                </a:solidFill>
                <a:latin typeface="Arial"/>
                <a:ea typeface="Arial"/>
                <a:cs typeface="Arial"/>
              </a:defRPr>
            </a:lvl3pPr>
            <a:lvl4pPr>
              <a:defRPr sz="2700" b="0">
                <a:solidFill>
                  <a:srgbClr val="20332E"/>
                </a:solidFill>
                <a:latin typeface="Arial"/>
                <a:ea typeface="Arial"/>
                <a:cs typeface="Arial"/>
              </a:defRPr>
            </a:lvl4pPr>
            <a:lvl5pPr>
              <a:defRPr sz="2700" b="0">
                <a:solidFill>
                  <a:srgbClr val="20332E"/>
                </a:solidFill>
                <a:latin typeface="Arial"/>
                <a:ea typeface="Arial"/>
                <a:cs typeface="Arial"/>
              </a:defRPr>
            </a:lvl5pPr>
            <a:lvl6pPr>
              <a:defRPr sz="2700" b="0">
                <a:solidFill>
                  <a:srgbClr val="20332E"/>
                </a:solidFill>
                <a:latin typeface="Arial"/>
                <a:ea typeface="Arial"/>
                <a:cs typeface="Arial"/>
              </a:defRPr>
            </a:lvl6pPr>
            <a:lvl7pPr>
              <a:defRPr sz="2700" b="0">
                <a:solidFill>
                  <a:srgbClr val="20332E"/>
                </a:solidFill>
                <a:latin typeface="Arial"/>
                <a:ea typeface="Arial"/>
                <a:cs typeface="Arial"/>
              </a:defRPr>
            </a:lvl7pPr>
            <a:lvl8pPr>
              <a:defRPr sz="2700" b="0">
                <a:solidFill>
                  <a:srgbClr val="20332E"/>
                </a:solidFill>
                <a:latin typeface="Arial"/>
                <a:ea typeface="Arial"/>
                <a:cs typeface="Arial"/>
              </a:defRPr>
            </a:lvl8pPr>
            <a:lvl9pPr>
              <a:defRPr sz="2700" b="0">
                <a:solidFill>
                  <a:srgbClr val="20332E"/>
                </a:solidFill>
                <a:latin typeface="Arial"/>
                <a:ea typeface="Arial"/>
                <a:cs typeface="Arial"/>
              </a:defRPr>
            </a:lvl9pPr>
          </a:lstStyle>
          <a:p xmlns:a="http://schemas.openxmlformats.org/drawingml/2006/main">
            <a:pPr>
              <a:defRPr sz="2700" b="0">
                <a:solidFill>
                  <a:srgbClr val="20332E"/>
                </a:solidFill>
                <a:latin typeface="Arial"/>
                <a:ea typeface="Arial"/>
                <a:cs typeface="Arial"/>
              </a:defRPr>
            </a:pPr>
            <a:r>
              <a:rPr sz="2700" b="0">
                <a:solidFill>
                  <a:srgbClr val="20332E"/>
                </a:solidFill>
                <a:latin typeface="Arial"/>
                <a:ea typeface="Arial"/>
                <a:cs typeface="Arial"/>
              </a:rPr>
              <a:t>Staff need the course, the answers already given</a:t>
            </a:r>
          </a:p>
          <a:p xmlns:a="http://schemas.openxmlformats.org/drawingml/2006/main">
            <a:pPr>
              <a:defRPr sz="2700" b="0">
                <a:solidFill>
                  <a:srgbClr val="20332E"/>
                </a:solidFill>
                <a:latin typeface="Arial"/>
                <a:ea typeface="Arial"/>
                <a:cs typeface="Arial"/>
              </a:defRPr>
            </a:pPr>
            <a:r>
              <a:rPr sz="2700" b="0">
                <a:solidFill>
                  <a:srgbClr val="20332E"/>
                </a:solidFill>
                <a:latin typeface="Arial"/>
                <a:ea typeface="Arial"/>
                <a:cs typeface="Arial"/>
              </a:rPr>
              <a:t>and the reason behind the next step.</a:t>
            </a:r>
          </a:p>
        </p:txBody>
      </p:sp>
      <p:sp>
        <p:nvSpPr>
          <p:cNvPr id="4" name="">
            <a:extLst xmlns:a="http://schemas.openxmlformats.org/drawingml/2006/main">
              <a:ext uri="{FF2B5EF4-FFF2-40B4-BE49-F238E27FC236}">
                <a16:creationId xmlns:a16="http://schemas.microsoft.com/office/drawing/2014/main" id="{3FA66944-8E47-4839-BBF6-6EC457582172}"/>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634D"/>
                </a:solidFill>
                <a:latin typeface="Arial"/>
                <a:ea typeface="Arial"/>
                <a:cs typeface="Arial"/>
              </a:defRPr>
            </a:defPPr>
            <a:lvl1pPr>
              <a:defRPr sz="2400" b="0">
                <a:solidFill>
                  <a:srgbClr val="17634D"/>
                </a:solidFill>
                <a:latin typeface="Arial"/>
                <a:ea typeface="Arial"/>
                <a:cs typeface="Arial"/>
              </a:defRPr>
            </a:lvl1pPr>
            <a:lvl2pPr>
              <a:defRPr sz="2400" b="0">
                <a:solidFill>
                  <a:srgbClr val="17634D"/>
                </a:solidFill>
                <a:latin typeface="Arial"/>
                <a:ea typeface="Arial"/>
                <a:cs typeface="Arial"/>
              </a:defRPr>
            </a:lvl2pPr>
            <a:lvl3pPr>
              <a:defRPr sz="2400" b="0">
                <a:solidFill>
                  <a:srgbClr val="17634D"/>
                </a:solidFill>
                <a:latin typeface="Arial"/>
                <a:ea typeface="Arial"/>
                <a:cs typeface="Arial"/>
              </a:defRPr>
            </a:lvl3pPr>
            <a:lvl4pPr>
              <a:defRPr sz="2400" b="0">
                <a:solidFill>
                  <a:srgbClr val="17634D"/>
                </a:solidFill>
                <a:latin typeface="Arial"/>
                <a:ea typeface="Arial"/>
                <a:cs typeface="Arial"/>
              </a:defRPr>
            </a:lvl4pPr>
            <a:lvl5pPr>
              <a:defRPr sz="2400" b="0">
                <a:solidFill>
                  <a:srgbClr val="17634D"/>
                </a:solidFill>
                <a:latin typeface="Arial"/>
                <a:ea typeface="Arial"/>
                <a:cs typeface="Arial"/>
              </a:defRPr>
            </a:lvl5pPr>
            <a:lvl6pPr>
              <a:defRPr sz="2400" b="0">
                <a:solidFill>
                  <a:srgbClr val="17634D"/>
                </a:solidFill>
                <a:latin typeface="Arial"/>
                <a:ea typeface="Arial"/>
                <a:cs typeface="Arial"/>
              </a:defRPr>
            </a:lvl6pPr>
            <a:lvl7pPr>
              <a:defRPr sz="2400" b="0">
                <a:solidFill>
                  <a:srgbClr val="17634D"/>
                </a:solidFill>
                <a:latin typeface="Arial"/>
                <a:ea typeface="Arial"/>
                <a:cs typeface="Arial"/>
              </a:defRPr>
            </a:lvl7pPr>
            <a:lvl8pPr>
              <a:defRPr sz="2400" b="0">
                <a:solidFill>
                  <a:srgbClr val="17634D"/>
                </a:solidFill>
                <a:latin typeface="Arial"/>
                <a:ea typeface="Arial"/>
                <a:cs typeface="Arial"/>
              </a:defRPr>
            </a:lvl8pPr>
            <a:lvl9pPr>
              <a:defRPr sz="2400" b="0">
                <a:solidFill>
                  <a:srgbClr val="17634D"/>
                </a:solidFill>
                <a:latin typeface="Arial"/>
                <a:ea typeface="Arial"/>
                <a:cs typeface="Arial"/>
              </a:defRPr>
            </a:lvl9pPr>
          </a:lstStyle>
          <a:p xmlns:a="http://schemas.openxmlformats.org/drawingml/2006/main">
            <a:pPr>
              <a:defRPr sz="2400" b="0">
                <a:solidFill>
                  <a:srgbClr val="17634D"/>
                </a:solidFill>
                <a:latin typeface="Arial"/>
                <a:ea typeface="Arial"/>
                <a:cs typeface="Arial"/>
              </a:defRPr>
            </a:pPr>
            <a:r>
              <a:rPr sz="2400" b="0">
                <a:solidFill>
                  <a:srgbClr val="17634D"/>
                </a:solidFill>
                <a:latin typeface="Arial"/>
                <a:ea typeface="Arial"/>
                <a:cs typeface="Arial"/>
              </a:rPr>
              <a:t>Product hypothesis: less repeated information collection.</a:t>
            </a:r>
          </a:p>
        </p:txBody>
      </p:sp>
      <p:sp>
        <p:nvSpPr>
          <p:cNvPr id="5" name="">
            <a:extLst xmlns:a="http://schemas.openxmlformats.org/drawingml/2006/main">
              <a:ext uri="{FF2B5EF4-FFF2-40B4-BE49-F238E27FC236}">
                <a16:creationId xmlns:a16="http://schemas.microsoft.com/office/drawing/2014/main" id="{9DF5DF41-9E93-4F43-8E6F-6AEA07D82CDA}"/>
              </a:ext>
            </a:extLst>
          </p:cNvPr>
          <p:cNvSpPr>
            <a:spLocks xmlns:a="http://schemas.openxmlformats.org/drawingml/2006/main" noGrp="1"/>
          </p:cNvSpPr>
          <p:nvPr/>
        </p:nvSpPr>
        <p:spPr>
          <a:xfrm xmlns:a="http://schemas.openxmlformats.org/drawingml/2006/main">
            <a:off x="685800" y="6000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86960"/>
                </a:solidFill>
                <a:latin typeface="Arial"/>
                <a:ea typeface="Arial"/>
                <a:cs typeface="Arial"/>
              </a:defRPr>
            </a:defPPr>
            <a:lvl1pPr>
              <a:defRPr sz="1950" b="0">
                <a:solidFill>
                  <a:srgbClr val="586960"/>
                </a:solidFill>
                <a:latin typeface="Arial"/>
                <a:ea typeface="Arial"/>
                <a:cs typeface="Arial"/>
              </a:defRPr>
            </a:lvl1pPr>
            <a:lvl2pPr>
              <a:defRPr sz="1950" b="0">
                <a:solidFill>
                  <a:srgbClr val="586960"/>
                </a:solidFill>
                <a:latin typeface="Arial"/>
                <a:ea typeface="Arial"/>
                <a:cs typeface="Arial"/>
              </a:defRPr>
            </a:lvl2pPr>
            <a:lvl3pPr>
              <a:defRPr sz="1950" b="0">
                <a:solidFill>
                  <a:srgbClr val="586960"/>
                </a:solidFill>
                <a:latin typeface="Arial"/>
                <a:ea typeface="Arial"/>
                <a:cs typeface="Arial"/>
              </a:defRPr>
            </a:lvl3pPr>
            <a:lvl4pPr>
              <a:defRPr sz="1950" b="0">
                <a:solidFill>
                  <a:srgbClr val="586960"/>
                </a:solidFill>
                <a:latin typeface="Arial"/>
                <a:ea typeface="Arial"/>
                <a:cs typeface="Arial"/>
              </a:defRPr>
            </a:lvl4pPr>
            <a:lvl5pPr>
              <a:defRPr sz="1950" b="0">
                <a:solidFill>
                  <a:srgbClr val="586960"/>
                </a:solidFill>
                <a:latin typeface="Arial"/>
                <a:ea typeface="Arial"/>
                <a:cs typeface="Arial"/>
              </a:defRPr>
            </a:lvl5pPr>
            <a:lvl6pPr>
              <a:defRPr sz="1950" b="0">
                <a:solidFill>
                  <a:srgbClr val="586960"/>
                </a:solidFill>
                <a:latin typeface="Arial"/>
                <a:ea typeface="Arial"/>
                <a:cs typeface="Arial"/>
              </a:defRPr>
            </a:lvl6pPr>
            <a:lvl7pPr>
              <a:defRPr sz="1950" b="0">
                <a:solidFill>
                  <a:srgbClr val="586960"/>
                </a:solidFill>
                <a:latin typeface="Arial"/>
                <a:ea typeface="Arial"/>
                <a:cs typeface="Arial"/>
              </a:defRPr>
            </a:lvl7pPr>
            <a:lvl8pPr>
              <a:defRPr sz="1950" b="0">
                <a:solidFill>
                  <a:srgbClr val="586960"/>
                </a:solidFill>
                <a:latin typeface="Arial"/>
                <a:ea typeface="Arial"/>
                <a:cs typeface="Arial"/>
              </a:defRPr>
            </a:lvl8pPr>
            <a:lvl9pPr>
              <a:defRPr sz="1950" b="0">
                <a:solidFill>
                  <a:srgbClr val="586960"/>
                </a:solidFill>
                <a:latin typeface="Arial"/>
                <a:ea typeface="Arial"/>
                <a:cs typeface="Arial"/>
              </a:defRPr>
            </a:lvl9pPr>
          </a:lstStyle>
          <a:p xmlns:a="http://schemas.openxmlformats.org/drawingml/2006/main">
            <a:pPr>
              <a:defRPr sz="1950" b="0">
                <a:solidFill>
                  <a:srgbClr val="586960"/>
                </a:solidFill>
                <a:latin typeface="Arial"/>
                <a:ea typeface="Arial"/>
                <a:cs typeface="Arial"/>
              </a:defRPr>
            </a:pPr>
            <a:r>
              <a:rPr sz="1950" b="0">
                <a:solidFill>
                  <a:srgbClr val="586960"/>
                </a:solidFill>
                <a:latin typeface="Arial"/>
                <a:ea typeface="Arial"/>
                <a:cs typeface="Arial"/>
              </a:rPr>
              <a:t>Customer demand and time savings remain unmeasured.</a:t>
            </a:r>
          </a:p>
        </p:txBody>
      </p:sp>
    </p:spTree>
    <p:extLst>
      <p:ext uri="{BB962C8B-B14F-4D97-AF65-F5344CB8AC3E}">
        <p14:creationId xmlns:p14="http://schemas.microsoft.com/office/powerpoint/2010/main" val="730524702"/>
      </p:ext>
    </p:extLst>
  </p:cSld>
</p:sld>
</file>

<file path=ppt/slides/slide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498A31-19F5-4A7A-B753-6E3BBAC6BD02}"/>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7634D"/>
                </a:solidFill>
                <a:latin typeface="Arial"/>
                <a:ea typeface="Arial"/>
                <a:cs typeface="Arial"/>
              </a:defRPr>
            </a:defPPr>
            <a:lvl1pPr>
              <a:defRPr sz="4200" b="1">
                <a:solidFill>
                  <a:srgbClr val="17634D"/>
                </a:solidFill>
                <a:latin typeface="Arial"/>
                <a:ea typeface="Arial"/>
                <a:cs typeface="Arial"/>
              </a:defRPr>
            </a:lvl1pPr>
            <a:lvl2pPr>
              <a:defRPr sz="4200" b="1">
                <a:solidFill>
                  <a:srgbClr val="17634D"/>
                </a:solidFill>
                <a:latin typeface="Arial"/>
                <a:ea typeface="Arial"/>
                <a:cs typeface="Arial"/>
              </a:defRPr>
            </a:lvl2pPr>
            <a:lvl3pPr>
              <a:defRPr sz="4200" b="1">
                <a:solidFill>
                  <a:srgbClr val="17634D"/>
                </a:solidFill>
                <a:latin typeface="Arial"/>
                <a:ea typeface="Arial"/>
                <a:cs typeface="Arial"/>
              </a:defRPr>
            </a:lvl3pPr>
            <a:lvl4pPr>
              <a:defRPr sz="4200" b="1">
                <a:solidFill>
                  <a:srgbClr val="17634D"/>
                </a:solidFill>
                <a:latin typeface="Arial"/>
                <a:ea typeface="Arial"/>
                <a:cs typeface="Arial"/>
              </a:defRPr>
            </a:lvl4pPr>
            <a:lvl5pPr>
              <a:defRPr sz="4200" b="1">
                <a:solidFill>
                  <a:srgbClr val="17634D"/>
                </a:solidFill>
                <a:latin typeface="Arial"/>
                <a:ea typeface="Arial"/>
                <a:cs typeface="Arial"/>
              </a:defRPr>
            </a:lvl5pPr>
            <a:lvl6pPr>
              <a:defRPr sz="4200" b="1">
                <a:solidFill>
                  <a:srgbClr val="17634D"/>
                </a:solidFill>
                <a:latin typeface="Arial"/>
                <a:ea typeface="Arial"/>
                <a:cs typeface="Arial"/>
              </a:defRPr>
            </a:lvl6pPr>
            <a:lvl7pPr>
              <a:defRPr sz="4200" b="1">
                <a:solidFill>
                  <a:srgbClr val="17634D"/>
                </a:solidFill>
                <a:latin typeface="Arial"/>
                <a:ea typeface="Arial"/>
                <a:cs typeface="Arial"/>
              </a:defRPr>
            </a:lvl7pPr>
            <a:lvl8pPr>
              <a:defRPr sz="4200" b="1">
                <a:solidFill>
                  <a:srgbClr val="17634D"/>
                </a:solidFill>
                <a:latin typeface="Arial"/>
                <a:ea typeface="Arial"/>
                <a:cs typeface="Arial"/>
              </a:defRPr>
            </a:lvl8pPr>
            <a:lvl9pPr>
              <a:defRPr sz="4200" b="1">
                <a:solidFill>
                  <a:srgbClr val="17634D"/>
                </a:solidFill>
                <a:latin typeface="Arial"/>
                <a:ea typeface="Arial"/>
                <a:cs typeface="Arial"/>
              </a:defRPr>
            </a:lvl9pPr>
          </a:lstStyle>
          <a:p xmlns:a="http://schemas.openxmlformats.org/drawingml/2006/main">
            <a:pPr>
              <a:defRPr sz="4200" b="1">
                <a:solidFill>
                  <a:srgbClr val="17634D"/>
                </a:solidFill>
                <a:latin typeface="Arial"/>
                <a:ea typeface="Arial"/>
                <a:cs typeface="Arial"/>
              </a:defRPr>
            </a:pPr>
            <a:r>
              <a:rPr sz="4200" b="1">
                <a:solidFill>
                  <a:srgbClr val="17634D"/>
                </a:solidFill>
                <a:latin typeface="Arial"/>
                <a:ea typeface="Arial"/>
                <a:cs typeface="Arial"/>
              </a:rPr>
              <a:t>A working institution workspace</a:t>
            </a:r>
          </a:p>
        </p:txBody>
      </p:sp>
      <p:sp>
        <p:nvSpPr>
          <p:cNvPr id="2" name="">
            <a:extLst xmlns:a="http://schemas.openxmlformats.org/drawingml/2006/main">
              <a:ext uri="{FF2B5EF4-FFF2-40B4-BE49-F238E27FC236}">
                <a16:creationId xmlns:a16="http://schemas.microsoft.com/office/drawing/2014/main" id="{A1A19F4B-E237-442F-89A7-DBAC615BAB1E}"/>
              </a:ext>
            </a:extLst>
          </p:cNvPr>
          <p:cNvSpPr>
            <a:spLocks xmlns:a="http://schemas.openxmlformats.org/drawingml/2006/main" noGrp="1"/>
          </p:cNvSpPr>
          <p:nvPr/>
        </p:nvSpPr>
        <p:spPr>
          <a:xfrm xmlns:a="http://schemas.openxmlformats.org/drawingml/2006/main">
            <a:off x="685800" y="1828800"/>
            <a:ext cx="3238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0332E"/>
                </a:solidFill>
                <a:latin typeface="Arial"/>
                <a:ea typeface="Arial"/>
                <a:cs typeface="Arial"/>
              </a:defRPr>
            </a:defPPr>
            <a:lvl1pPr>
              <a:defRPr sz="2400" b="0">
                <a:solidFill>
                  <a:srgbClr val="20332E"/>
                </a:solidFill>
                <a:latin typeface="Arial"/>
                <a:ea typeface="Arial"/>
                <a:cs typeface="Arial"/>
              </a:defRPr>
            </a:lvl1pPr>
            <a:lvl2pPr>
              <a:defRPr sz="2400" b="0">
                <a:solidFill>
                  <a:srgbClr val="20332E"/>
                </a:solidFill>
                <a:latin typeface="Arial"/>
                <a:ea typeface="Arial"/>
                <a:cs typeface="Arial"/>
              </a:defRPr>
            </a:lvl2pPr>
            <a:lvl3pPr>
              <a:defRPr sz="2400" b="0">
                <a:solidFill>
                  <a:srgbClr val="20332E"/>
                </a:solidFill>
                <a:latin typeface="Arial"/>
                <a:ea typeface="Arial"/>
                <a:cs typeface="Arial"/>
              </a:defRPr>
            </a:lvl3pPr>
            <a:lvl4pPr>
              <a:defRPr sz="2400" b="0">
                <a:solidFill>
                  <a:srgbClr val="20332E"/>
                </a:solidFill>
                <a:latin typeface="Arial"/>
                <a:ea typeface="Arial"/>
                <a:cs typeface="Arial"/>
              </a:defRPr>
            </a:lvl4pPr>
            <a:lvl5pPr>
              <a:defRPr sz="2400" b="0">
                <a:solidFill>
                  <a:srgbClr val="20332E"/>
                </a:solidFill>
                <a:latin typeface="Arial"/>
                <a:ea typeface="Arial"/>
                <a:cs typeface="Arial"/>
              </a:defRPr>
            </a:lvl5pPr>
            <a:lvl6pPr>
              <a:defRPr sz="2400" b="0">
                <a:solidFill>
                  <a:srgbClr val="20332E"/>
                </a:solidFill>
                <a:latin typeface="Arial"/>
                <a:ea typeface="Arial"/>
                <a:cs typeface="Arial"/>
              </a:defRPr>
            </a:lvl6pPr>
            <a:lvl7pPr>
              <a:defRPr sz="2400" b="0">
                <a:solidFill>
                  <a:srgbClr val="20332E"/>
                </a:solidFill>
                <a:latin typeface="Arial"/>
                <a:ea typeface="Arial"/>
                <a:cs typeface="Arial"/>
              </a:defRPr>
            </a:lvl7pPr>
            <a:lvl8pPr>
              <a:defRPr sz="2400" b="0">
                <a:solidFill>
                  <a:srgbClr val="20332E"/>
                </a:solidFill>
                <a:latin typeface="Arial"/>
                <a:ea typeface="Arial"/>
                <a:cs typeface="Arial"/>
              </a:defRPr>
            </a:lvl8pPr>
            <a:lvl9pPr>
              <a:defRPr sz="2400" b="0">
                <a:solidFill>
                  <a:srgbClr val="20332E"/>
                </a:solidFill>
                <a:latin typeface="Arial"/>
                <a:ea typeface="Arial"/>
                <a:cs typeface="Arial"/>
              </a:defRPr>
            </a:lvl9pPr>
          </a:lstStyle>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Telegram collects course choices and explicit answers.</a:t>
            </a:r>
          </a:p>
        </p:txBody>
      </p:sp>
      <p:sp>
        <p:nvSpPr>
          <p:cNvPr id="3" name="">
            <a:extLst xmlns:a="http://schemas.openxmlformats.org/drawingml/2006/main">
              <a:ext uri="{FF2B5EF4-FFF2-40B4-BE49-F238E27FC236}">
                <a16:creationId xmlns:a16="http://schemas.microsoft.com/office/drawing/2014/main" id="{378B7C8B-84AA-44E5-828A-3960C879CE3E}"/>
              </a:ext>
            </a:extLst>
          </p:cNvPr>
          <p:cNvSpPr>
            <a:spLocks xmlns:a="http://schemas.openxmlformats.org/drawingml/2006/main" noGrp="1"/>
          </p:cNvSpPr>
          <p:nvPr/>
        </p:nvSpPr>
        <p:spPr>
          <a:xfrm xmlns:a="http://schemas.openxmlformats.org/drawingml/2006/main">
            <a:off x="685800" y="3752850"/>
            <a:ext cx="32385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634D"/>
                </a:solidFill>
                <a:latin typeface="Arial"/>
                <a:ea typeface="Arial"/>
                <a:cs typeface="Arial"/>
              </a:defRPr>
            </a:defPPr>
            <a:lvl1pPr>
              <a:defRPr sz="2400" b="0">
                <a:solidFill>
                  <a:srgbClr val="17634D"/>
                </a:solidFill>
                <a:latin typeface="Arial"/>
                <a:ea typeface="Arial"/>
                <a:cs typeface="Arial"/>
              </a:defRPr>
            </a:lvl1pPr>
            <a:lvl2pPr>
              <a:defRPr sz="2400" b="0">
                <a:solidFill>
                  <a:srgbClr val="17634D"/>
                </a:solidFill>
                <a:latin typeface="Arial"/>
                <a:ea typeface="Arial"/>
                <a:cs typeface="Arial"/>
              </a:defRPr>
            </a:lvl2pPr>
            <a:lvl3pPr>
              <a:defRPr sz="2400" b="0">
                <a:solidFill>
                  <a:srgbClr val="17634D"/>
                </a:solidFill>
                <a:latin typeface="Arial"/>
                <a:ea typeface="Arial"/>
                <a:cs typeface="Arial"/>
              </a:defRPr>
            </a:lvl3pPr>
            <a:lvl4pPr>
              <a:defRPr sz="2400" b="0">
                <a:solidFill>
                  <a:srgbClr val="17634D"/>
                </a:solidFill>
                <a:latin typeface="Arial"/>
                <a:ea typeface="Arial"/>
                <a:cs typeface="Arial"/>
              </a:defRPr>
            </a:lvl4pPr>
            <a:lvl5pPr>
              <a:defRPr sz="2400" b="0">
                <a:solidFill>
                  <a:srgbClr val="17634D"/>
                </a:solidFill>
                <a:latin typeface="Arial"/>
                <a:ea typeface="Arial"/>
                <a:cs typeface="Arial"/>
              </a:defRPr>
            </a:lvl5pPr>
            <a:lvl6pPr>
              <a:defRPr sz="2400" b="0">
                <a:solidFill>
                  <a:srgbClr val="17634D"/>
                </a:solidFill>
                <a:latin typeface="Arial"/>
                <a:ea typeface="Arial"/>
                <a:cs typeface="Arial"/>
              </a:defRPr>
            </a:lvl6pPr>
            <a:lvl7pPr>
              <a:defRPr sz="2400" b="0">
                <a:solidFill>
                  <a:srgbClr val="17634D"/>
                </a:solidFill>
                <a:latin typeface="Arial"/>
                <a:ea typeface="Arial"/>
                <a:cs typeface="Arial"/>
              </a:defRPr>
            </a:lvl7pPr>
            <a:lvl8pPr>
              <a:defRPr sz="2400" b="0">
                <a:solidFill>
                  <a:srgbClr val="17634D"/>
                </a:solidFill>
                <a:latin typeface="Arial"/>
                <a:ea typeface="Arial"/>
                <a:cs typeface="Arial"/>
              </a:defRPr>
            </a:lvl8pPr>
            <a:lvl9pPr>
              <a:defRPr sz="2400" b="0">
                <a:solidFill>
                  <a:srgbClr val="17634D"/>
                </a:solidFill>
                <a:latin typeface="Arial"/>
                <a:ea typeface="Arial"/>
                <a:cs typeface="Arial"/>
              </a:defRPr>
            </a:lvl9pPr>
          </a:lstStyle>
          <a:p xmlns:a="http://schemas.openxmlformats.org/drawingml/2006/main">
            <a:pPr>
              <a:defRPr sz="2400" b="0">
                <a:solidFill>
                  <a:srgbClr val="17634D"/>
                </a:solidFill>
                <a:latin typeface="Arial"/>
                <a:ea typeface="Arial"/>
                <a:cs typeface="Arial"/>
              </a:defRPr>
            </a:pPr>
            <a:r>
              <a:rPr sz="2400" b="0">
                <a:solidFill>
                  <a:srgbClr val="17634D"/>
                </a:solidFill>
                <a:latin typeface="Arial"/>
                <a:ea typeface="Arial"/>
                <a:cs typeface="Arial"/>
              </a:rPr>
              <a:t>Staff control the catalog, batches and application fees.</a:t>
            </a:r>
          </a:p>
        </p:txBody>
      </p:sp>
      <p:pic>
        <p:nvPicPr>
          <p:cNvPr id="4" name="">
            <a:extLst xmlns:a="http://schemas.openxmlformats.org/drawingml/2006/main">
              <a:ext uri="{FF2B5EF4-FFF2-40B4-BE49-F238E27FC236}">
                <a16:creationId xmlns:a16="http://schemas.microsoft.com/office/drawing/2014/main" id="{C369A6BC-ACB5-400A-A7DE-15AF85729351}"/>
              </a:ext>
            </a:extLst>
          </p:cNvPr>
          <p:cNvPicPr>
            <a:picLocks xmlns:a="http://schemas.openxmlformats.org/drawingml/2006/main" noChangeAspect="1"/>
          </p:cNvPicPr>
          <p:nvPr/>
        </p:nvPicPr>
        <p:blipFill>
          <a:blip xmlns:r="http://schemas.openxmlformats.org/officeDocument/2006/relationships" xmlns:a="http://schemas.openxmlformats.org/drawingml/2006/main" r:embed="R5a39e8ebb0994bf2"/>
          <a:stretch xmlns:a="http://schemas.openxmlformats.org/drawingml/2006/main"/>
        </p:blipFill>
        <p:spPr>
          <a:xfrm xmlns:a="http://schemas.openxmlformats.org/drawingml/2006/main">
            <a:off x="4476750" y="1721118"/>
            <a:ext cx="7029450" cy="410156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5C2456-0DFB-4087-9220-0AE11CB20CFA}"/>
              </a:ext>
            </a:extLst>
          </p:cNvPr>
          <p:cNvSpPr>
            <a:spLocks xmlns:a="http://schemas.openxmlformats.org/drawingml/2006/main" noGrp="1"/>
          </p:cNvSpPr>
          <p:nvPr/>
        </p:nvSpPr>
        <p:spPr>
          <a:xfrm xmlns:a="http://schemas.openxmlformats.org/drawingml/2006/main">
            <a:off x="685800" y="61341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86960"/>
                </a:solidFill>
                <a:latin typeface="Arial"/>
                <a:ea typeface="Arial"/>
                <a:cs typeface="Arial"/>
              </a:defRPr>
            </a:defPPr>
            <a:lvl1pPr>
              <a:defRPr sz="1875" b="0">
                <a:solidFill>
                  <a:srgbClr val="586960"/>
                </a:solidFill>
                <a:latin typeface="Arial"/>
                <a:ea typeface="Arial"/>
                <a:cs typeface="Arial"/>
              </a:defRPr>
            </a:lvl1pPr>
            <a:lvl2pPr>
              <a:defRPr sz="1875" b="0">
                <a:solidFill>
                  <a:srgbClr val="586960"/>
                </a:solidFill>
                <a:latin typeface="Arial"/>
                <a:ea typeface="Arial"/>
                <a:cs typeface="Arial"/>
              </a:defRPr>
            </a:lvl2pPr>
            <a:lvl3pPr>
              <a:defRPr sz="1875" b="0">
                <a:solidFill>
                  <a:srgbClr val="586960"/>
                </a:solidFill>
                <a:latin typeface="Arial"/>
                <a:ea typeface="Arial"/>
                <a:cs typeface="Arial"/>
              </a:defRPr>
            </a:lvl3pPr>
            <a:lvl4pPr>
              <a:defRPr sz="1875" b="0">
                <a:solidFill>
                  <a:srgbClr val="586960"/>
                </a:solidFill>
                <a:latin typeface="Arial"/>
                <a:ea typeface="Arial"/>
                <a:cs typeface="Arial"/>
              </a:defRPr>
            </a:lvl4pPr>
            <a:lvl5pPr>
              <a:defRPr sz="1875" b="0">
                <a:solidFill>
                  <a:srgbClr val="586960"/>
                </a:solidFill>
                <a:latin typeface="Arial"/>
                <a:ea typeface="Arial"/>
                <a:cs typeface="Arial"/>
              </a:defRPr>
            </a:lvl5pPr>
            <a:lvl6pPr>
              <a:defRPr sz="1875" b="0">
                <a:solidFill>
                  <a:srgbClr val="586960"/>
                </a:solidFill>
                <a:latin typeface="Arial"/>
                <a:ea typeface="Arial"/>
                <a:cs typeface="Arial"/>
              </a:defRPr>
            </a:lvl6pPr>
            <a:lvl7pPr>
              <a:defRPr sz="1875" b="0">
                <a:solidFill>
                  <a:srgbClr val="586960"/>
                </a:solidFill>
                <a:latin typeface="Arial"/>
                <a:ea typeface="Arial"/>
                <a:cs typeface="Arial"/>
              </a:defRPr>
            </a:lvl7pPr>
            <a:lvl8pPr>
              <a:defRPr sz="1875" b="0">
                <a:solidFill>
                  <a:srgbClr val="586960"/>
                </a:solidFill>
                <a:latin typeface="Arial"/>
                <a:ea typeface="Arial"/>
                <a:cs typeface="Arial"/>
              </a:defRPr>
            </a:lvl8pPr>
            <a:lvl9pPr>
              <a:defRPr sz="1875" b="0">
                <a:solidFill>
                  <a:srgbClr val="586960"/>
                </a:solidFill>
                <a:latin typeface="Arial"/>
                <a:ea typeface="Arial"/>
                <a:cs typeface="Arial"/>
              </a:defRPr>
            </a:lvl9pPr>
          </a:lstStyle>
          <a:p xmlns:a="http://schemas.openxmlformats.org/drawingml/2006/main">
            <a:pPr>
              <a:defRPr sz="1875" b="0">
                <a:solidFill>
                  <a:srgbClr val="586960"/>
                </a:solidFill>
                <a:latin typeface="Arial"/>
                <a:ea typeface="Arial"/>
                <a:cs typeface="Arial"/>
              </a:defRPr>
            </a:pPr>
            <a:r>
              <a:rPr sz="1875" b="0">
                <a:solidFill>
                  <a:srgbClr val="586960"/>
                </a:solidFill>
                <a:latin typeface="Arial"/>
                <a:ea typeface="Arial"/>
                <a:cs typeface="Arial"/>
              </a:rPr>
              <a:t>Actual product screen with synthetic institution data.</a:t>
            </a:r>
          </a:p>
        </p:txBody>
      </p:sp>
    </p:spTree>
    <p:extLst>
      <p:ext uri="{BB962C8B-B14F-4D97-AF65-F5344CB8AC3E}">
        <p14:creationId xmlns:p14="http://schemas.microsoft.com/office/powerpoint/2010/main" val="318334378"/>
      </p:ext>
    </p:extLst>
  </p:cSld>
</p:sld>
</file>

<file path=ppt/slides/slide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E26F05-5C7D-49FD-B8A0-3932D538ECA4}"/>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7634D"/>
                </a:solidFill>
                <a:latin typeface="Arial"/>
                <a:ea typeface="Arial"/>
                <a:cs typeface="Arial"/>
              </a:defRPr>
            </a:defPPr>
            <a:lvl1pPr>
              <a:defRPr sz="4200" b="1">
                <a:solidFill>
                  <a:srgbClr val="17634D"/>
                </a:solidFill>
                <a:latin typeface="Arial"/>
                <a:ea typeface="Arial"/>
                <a:cs typeface="Arial"/>
              </a:defRPr>
            </a:lvl1pPr>
            <a:lvl2pPr>
              <a:defRPr sz="4200" b="1">
                <a:solidFill>
                  <a:srgbClr val="17634D"/>
                </a:solidFill>
                <a:latin typeface="Arial"/>
                <a:ea typeface="Arial"/>
                <a:cs typeface="Arial"/>
              </a:defRPr>
            </a:lvl2pPr>
            <a:lvl3pPr>
              <a:defRPr sz="4200" b="1">
                <a:solidFill>
                  <a:srgbClr val="17634D"/>
                </a:solidFill>
                <a:latin typeface="Arial"/>
                <a:ea typeface="Arial"/>
                <a:cs typeface="Arial"/>
              </a:defRPr>
            </a:lvl3pPr>
            <a:lvl4pPr>
              <a:defRPr sz="4200" b="1">
                <a:solidFill>
                  <a:srgbClr val="17634D"/>
                </a:solidFill>
                <a:latin typeface="Arial"/>
                <a:ea typeface="Arial"/>
                <a:cs typeface="Arial"/>
              </a:defRPr>
            </a:lvl4pPr>
            <a:lvl5pPr>
              <a:defRPr sz="4200" b="1">
                <a:solidFill>
                  <a:srgbClr val="17634D"/>
                </a:solidFill>
                <a:latin typeface="Arial"/>
                <a:ea typeface="Arial"/>
                <a:cs typeface="Arial"/>
              </a:defRPr>
            </a:lvl5pPr>
            <a:lvl6pPr>
              <a:defRPr sz="4200" b="1">
                <a:solidFill>
                  <a:srgbClr val="17634D"/>
                </a:solidFill>
                <a:latin typeface="Arial"/>
                <a:ea typeface="Arial"/>
                <a:cs typeface="Arial"/>
              </a:defRPr>
            </a:lvl6pPr>
            <a:lvl7pPr>
              <a:defRPr sz="4200" b="1">
                <a:solidFill>
                  <a:srgbClr val="17634D"/>
                </a:solidFill>
                <a:latin typeface="Arial"/>
                <a:ea typeface="Arial"/>
                <a:cs typeface="Arial"/>
              </a:defRPr>
            </a:lvl7pPr>
            <a:lvl8pPr>
              <a:defRPr sz="4200" b="1">
                <a:solidFill>
                  <a:srgbClr val="17634D"/>
                </a:solidFill>
                <a:latin typeface="Arial"/>
                <a:ea typeface="Arial"/>
                <a:cs typeface="Arial"/>
              </a:defRPr>
            </a:lvl8pPr>
            <a:lvl9pPr>
              <a:defRPr sz="4200" b="1">
                <a:solidFill>
                  <a:srgbClr val="17634D"/>
                </a:solidFill>
                <a:latin typeface="Arial"/>
                <a:ea typeface="Arial"/>
                <a:cs typeface="Arial"/>
              </a:defRPr>
            </a:lvl9pPr>
          </a:lstStyle>
          <a:p xmlns:a="http://schemas.openxmlformats.org/drawingml/2006/main">
            <a:pPr>
              <a:defRPr sz="4200" b="1">
                <a:solidFill>
                  <a:srgbClr val="17634D"/>
                </a:solidFill>
                <a:latin typeface="Arial"/>
                <a:ea typeface="Arial"/>
                <a:cs typeface="Arial"/>
              </a:defRPr>
            </a:pPr>
            <a:r>
              <a:rPr sz="4200" b="1">
                <a:solidFill>
                  <a:srgbClr val="17634D"/>
                </a:solidFill>
                <a:latin typeface="Arial"/>
                <a:ea typeface="Arial"/>
                <a:cs typeface="Arial"/>
              </a:rPr>
              <a:t>Answers from approved documents</a:t>
            </a:r>
          </a:p>
        </p:txBody>
      </p:sp>
      <p:pic>
        <p:nvPicPr>
          <p:cNvPr id="2" name="">
            <a:extLst xmlns:a="http://schemas.openxmlformats.org/drawingml/2006/main">
              <a:ext uri="{FF2B5EF4-FFF2-40B4-BE49-F238E27FC236}">
                <a16:creationId xmlns:a16="http://schemas.microsoft.com/office/drawing/2014/main" id="{EB662608-63E3-4E64-AE87-53749BE531F9}"/>
              </a:ext>
            </a:extLst>
          </p:cNvPr>
          <p:cNvPicPr>
            <a:picLocks xmlns:a="http://schemas.openxmlformats.org/drawingml/2006/main" noChangeAspect="1"/>
          </p:cNvPicPr>
          <p:nvPr/>
        </p:nvPicPr>
        <p:blipFill>
          <a:blip xmlns:r="http://schemas.openxmlformats.org/officeDocument/2006/relationships" xmlns:a="http://schemas.openxmlformats.org/drawingml/2006/main" r:embed="R3aeba7b2afc6442d"/>
          <a:stretch xmlns:a="http://schemas.openxmlformats.org/drawingml/2006/main"/>
        </p:blipFill>
        <p:spPr>
          <a:xfrm xmlns:a="http://schemas.openxmlformats.org/drawingml/2006/main">
            <a:off x="685800" y="1744289"/>
            <a:ext cx="10820400" cy="13501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0C3992-1BBB-4B43-82B0-7DF208D77D9D}"/>
              </a:ext>
            </a:extLst>
          </p:cNvPr>
          <p:cNvSpPr>
            <a:spLocks xmlns:a="http://schemas.openxmlformats.org/drawingml/2006/main" noGrp="1"/>
          </p:cNvSpPr>
          <p:nvPr/>
        </p:nvSpPr>
        <p:spPr>
          <a:xfrm xmlns:a="http://schemas.openxmlformats.org/drawingml/2006/main">
            <a:off x="685800" y="36004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20332E"/>
                </a:solidFill>
                <a:latin typeface="Arial"/>
                <a:ea typeface="Arial"/>
                <a:cs typeface="Arial"/>
              </a:defRPr>
            </a:defPPr>
            <a:lvl1pPr>
              <a:defRPr sz="3150" b="1">
                <a:solidFill>
                  <a:srgbClr val="20332E"/>
                </a:solidFill>
                <a:latin typeface="Arial"/>
                <a:ea typeface="Arial"/>
                <a:cs typeface="Arial"/>
              </a:defRPr>
            </a:lvl1pPr>
            <a:lvl2pPr>
              <a:defRPr sz="3150" b="1">
                <a:solidFill>
                  <a:srgbClr val="20332E"/>
                </a:solidFill>
                <a:latin typeface="Arial"/>
                <a:ea typeface="Arial"/>
                <a:cs typeface="Arial"/>
              </a:defRPr>
            </a:lvl2pPr>
            <a:lvl3pPr>
              <a:defRPr sz="3150" b="1">
                <a:solidFill>
                  <a:srgbClr val="20332E"/>
                </a:solidFill>
                <a:latin typeface="Arial"/>
                <a:ea typeface="Arial"/>
                <a:cs typeface="Arial"/>
              </a:defRPr>
            </a:lvl3pPr>
            <a:lvl4pPr>
              <a:defRPr sz="3150" b="1">
                <a:solidFill>
                  <a:srgbClr val="20332E"/>
                </a:solidFill>
                <a:latin typeface="Arial"/>
                <a:ea typeface="Arial"/>
                <a:cs typeface="Arial"/>
              </a:defRPr>
            </a:lvl4pPr>
            <a:lvl5pPr>
              <a:defRPr sz="3150" b="1">
                <a:solidFill>
                  <a:srgbClr val="20332E"/>
                </a:solidFill>
                <a:latin typeface="Arial"/>
                <a:ea typeface="Arial"/>
                <a:cs typeface="Arial"/>
              </a:defRPr>
            </a:lvl5pPr>
            <a:lvl6pPr>
              <a:defRPr sz="3150" b="1">
                <a:solidFill>
                  <a:srgbClr val="20332E"/>
                </a:solidFill>
                <a:latin typeface="Arial"/>
                <a:ea typeface="Arial"/>
                <a:cs typeface="Arial"/>
              </a:defRPr>
            </a:lvl6pPr>
            <a:lvl7pPr>
              <a:defRPr sz="3150" b="1">
                <a:solidFill>
                  <a:srgbClr val="20332E"/>
                </a:solidFill>
                <a:latin typeface="Arial"/>
                <a:ea typeface="Arial"/>
                <a:cs typeface="Arial"/>
              </a:defRPr>
            </a:lvl7pPr>
            <a:lvl8pPr>
              <a:defRPr sz="3150" b="1">
                <a:solidFill>
                  <a:srgbClr val="20332E"/>
                </a:solidFill>
                <a:latin typeface="Arial"/>
                <a:ea typeface="Arial"/>
                <a:cs typeface="Arial"/>
              </a:defRPr>
            </a:lvl8pPr>
            <a:lvl9pPr>
              <a:defRPr sz="3150" b="1">
                <a:solidFill>
                  <a:srgbClr val="20332E"/>
                </a:solidFill>
                <a:latin typeface="Arial"/>
                <a:ea typeface="Arial"/>
                <a:cs typeface="Arial"/>
              </a:defRPr>
            </a:lvl9pPr>
          </a:lstStyle>
          <a:p xmlns:a="http://schemas.openxmlformats.org/drawingml/2006/main">
            <a:pPr>
              <a:defRPr sz="3150" b="1">
                <a:solidFill>
                  <a:srgbClr val="20332E"/>
                </a:solidFill>
                <a:latin typeface="Arial"/>
                <a:ea typeface="Arial"/>
                <a:cs typeface="Arial"/>
              </a:defRPr>
            </a:pPr>
            <a:r>
              <a:rPr sz="3150" b="1">
                <a:solidFill>
                  <a:srgbClr val="20332E"/>
                </a:solidFill>
                <a:latin typeface="Arial"/>
                <a:ea typeface="Arial"/>
                <a:cs typeface="Arial"/>
              </a:rPr>
              <a:t>PDF tables and headings stay together.</a:t>
            </a:r>
          </a:p>
        </p:txBody>
      </p:sp>
      <p:sp>
        <p:nvSpPr>
          <p:cNvPr id="4" name="">
            <a:extLst xmlns:a="http://schemas.openxmlformats.org/drawingml/2006/main">
              <a:ext uri="{FF2B5EF4-FFF2-40B4-BE49-F238E27FC236}">
                <a16:creationId xmlns:a16="http://schemas.microsoft.com/office/drawing/2014/main" id="{83AA4AF4-F770-4EF3-BD5A-875076F46C9A}"/>
              </a:ext>
            </a:extLst>
          </p:cNvPr>
          <p:cNvSpPr>
            <a:spLocks xmlns:a="http://schemas.openxmlformats.org/drawingml/2006/main" noGrp="1"/>
          </p:cNvSpPr>
          <p:nvPr/>
        </p:nvSpPr>
        <p:spPr>
          <a:xfrm xmlns:a="http://schemas.openxmlformats.org/drawingml/2006/main">
            <a:off x="685800" y="4648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0332E"/>
                </a:solidFill>
                <a:latin typeface="Arial"/>
                <a:ea typeface="Arial"/>
                <a:cs typeface="Arial"/>
              </a:defRPr>
            </a:defPPr>
            <a:lvl1pPr>
              <a:defRPr sz="2400" b="0">
                <a:solidFill>
                  <a:srgbClr val="20332E"/>
                </a:solidFill>
                <a:latin typeface="Arial"/>
                <a:ea typeface="Arial"/>
                <a:cs typeface="Arial"/>
              </a:defRPr>
            </a:lvl1pPr>
            <a:lvl2pPr>
              <a:defRPr sz="2400" b="0">
                <a:solidFill>
                  <a:srgbClr val="20332E"/>
                </a:solidFill>
                <a:latin typeface="Arial"/>
                <a:ea typeface="Arial"/>
                <a:cs typeface="Arial"/>
              </a:defRPr>
            </a:lvl2pPr>
            <a:lvl3pPr>
              <a:defRPr sz="2400" b="0">
                <a:solidFill>
                  <a:srgbClr val="20332E"/>
                </a:solidFill>
                <a:latin typeface="Arial"/>
                <a:ea typeface="Arial"/>
                <a:cs typeface="Arial"/>
              </a:defRPr>
            </a:lvl3pPr>
            <a:lvl4pPr>
              <a:defRPr sz="2400" b="0">
                <a:solidFill>
                  <a:srgbClr val="20332E"/>
                </a:solidFill>
                <a:latin typeface="Arial"/>
                <a:ea typeface="Arial"/>
                <a:cs typeface="Arial"/>
              </a:defRPr>
            </a:lvl4pPr>
            <a:lvl5pPr>
              <a:defRPr sz="2400" b="0">
                <a:solidFill>
                  <a:srgbClr val="20332E"/>
                </a:solidFill>
                <a:latin typeface="Arial"/>
                <a:ea typeface="Arial"/>
                <a:cs typeface="Arial"/>
              </a:defRPr>
            </a:lvl5pPr>
            <a:lvl6pPr>
              <a:defRPr sz="2400" b="0">
                <a:solidFill>
                  <a:srgbClr val="20332E"/>
                </a:solidFill>
                <a:latin typeface="Arial"/>
                <a:ea typeface="Arial"/>
                <a:cs typeface="Arial"/>
              </a:defRPr>
            </a:lvl6pPr>
            <a:lvl7pPr>
              <a:defRPr sz="2400" b="0">
                <a:solidFill>
                  <a:srgbClr val="20332E"/>
                </a:solidFill>
                <a:latin typeface="Arial"/>
                <a:ea typeface="Arial"/>
                <a:cs typeface="Arial"/>
              </a:defRPr>
            </a:lvl7pPr>
            <a:lvl8pPr>
              <a:defRPr sz="2400" b="0">
                <a:solidFill>
                  <a:srgbClr val="20332E"/>
                </a:solidFill>
                <a:latin typeface="Arial"/>
                <a:ea typeface="Arial"/>
                <a:cs typeface="Arial"/>
              </a:defRPr>
            </a:lvl8pPr>
            <a:lvl9pPr>
              <a:defRPr sz="2400" b="0">
                <a:solidFill>
                  <a:srgbClr val="20332E"/>
                </a:solidFill>
                <a:latin typeface="Arial"/>
                <a:ea typeface="Arial"/>
                <a:cs typeface="Arial"/>
              </a:defRPr>
            </a:lvl9pPr>
          </a:lstStyle>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OpenAI searches and reranks approved evidence.</a:t>
            </a:r>
          </a:p>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Answers stay grounded or abstain.</a:t>
            </a:r>
          </a:p>
        </p:txBody>
      </p:sp>
      <p:sp>
        <p:nvSpPr>
          <p:cNvPr id="5" name="">
            <a:extLst xmlns:a="http://schemas.openxmlformats.org/drawingml/2006/main">
              <a:ext uri="{FF2B5EF4-FFF2-40B4-BE49-F238E27FC236}">
                <a16:creationId xmlns:a16="http://schemas.microsoft.com/office/drawing/2014/main" id="{57C78ACC-1DE9-4A1E-A892-F2CEB93FCA7E}"/>
              </a:ext>
            </a:extLst>
          </p:cNvPr>
          <p:cNvSpPr>
            <a:spLocks xmlns:a="http://schemas.openxmlformats.org/drawingml/2006/main" noGrp="1"/>
          </p:cNvSpPr>
          <p:nvPr/>
        </p:nvSpPr>
        <p:spPr>
          <a:xfrm xmlns:a="http://schemas.openxmlformats.org/drawingml/2006/main">
            <a:off x="685800" y="61150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86960"/>
                </a:solidFill>
                <a:latin typeface="Arial"/>
                <a:ea typeface="Arial"/>
                <a:cs typeface="Arial"/>
              </a:defRPr>
            </a:defPPr>
            <a:lvl1pPr>
              <a:defRPr sz="1875" b="0">
                <a:solidFill>
                  <a:srgbClr val="586960"/>
                </a:solidFill>
                <a:latin typeface="Arial"/>
                <a:ea typeface="Arial"/>
                <a:cs typeface="Arial"/>
              </a:defRPr>
            </a:lvl1pPr>
            <a:lvl2pPr>
              <a:defRPr sz="1875" b="0">
                <a:solidFill>
                  <a:srgbClr val="586960"/>
                </a:solidFill>
                <a:latin typeface="Arial"/>
                <a:ea typeface="Arial"/>
                <a:cs typeface="Arial"/>
              </a:defRPr>
            </a:lvl2pPr>
            <a:lvl3pPr>
              <a:defRPr sz="1875" b="0">
                <a:solidFill>
                  <a:srgbClr val="586960"/>
                </a:solidFill>
                <a:latin typeface="Arial"/>
                <a:ea typeface="Arial"/>
                <a:cs typeface="Arial"/>
              </a:defRPr>
            </a:lvl3pPr>
            <a:lvl4pPr>
              <a:defRPr sz="1875" b="0">
                <a:solidFill>
                  <a:srgbClr val="586960"/>
                </a:solidFill>
                <a:latin typeface="Arial"/>
                <a:ea typeface="Arial"/>
                <a:cs typeface="Arial"/>
              </a:defRPr>
            </a:lvl4pPr>
            <a:lvl5pPr>
              <a:defRPr sz="1875" b="0">
                <a:solidFill>
                  <a:srgbClr val="586960"/>
                </a:solidFill>
                <a:latin typeface="Arial"/>
                <a:ea typeface="Arial"/>
                <a:cs typeface="Arial"/>
              </a:defRPr>
            </a:lvl5pPr>
            <a:lvl6pPr>
              <a:defRPr sz="1875" b="0">
                <a:solidFill>
                  <a:srgbClr val="586960"/>
                </a:solidFill>
                <a:latin typeface="Arial"/>
                <a:ea typeface="Arial"/>
                <a:cs typeface="Arial"/>
              </a:defRPr>
            </a:lvl6pPr>
            <a:lvl7pPr>
              <a:defRPr sz="1875" b="0">
                <a:solidFill>
                  <a:srgbClr val="586960"/>
                </a:solidFill>
                <a:latin typeface="Arial"/>
                <a:ea typeface="Arial"/>
                <a:cs typeface="Arial"/>
              </a:defRPr>
            </a:lvl7pPr>
            <a:lvl8pPr>
              <a:defRPr sz="1875" b="0">
                <a:solidFill>
                  <a:srgbClr val="586960"/>
                </a:solidFill>
                <a:latin typeface="Arial"/>
                <a:ea typeface="Arial"/>
                <a:cs typeface="Arial"/>
              </a:defRPr>
            </a:lvl8pPr>
            <a:lvl9pPr>
              <a:defRPr sz="1875" b="0">
                <a:solidFill>
                  <a:srgbClr val="586960"/>
                </a:solidFill>
                <a:latin typeface="Arial"/>
                <a:ea typeface="Arial"/>
                <a:cs typeface="Arial"/>
              </a:defRPr>
            </a:lvl9pPr>
          </a:lstStyle>
          <a:p xmlns:a="http://schemas.openxmlformats.org/drawingml/2006/main">
            <a:pPr>
              <a:defRPr sz="1875" b="0">
                <a:solidFill>
                  <a:srgbClr val="586960"/>
                </a:solidFill>
                <a:latin typeface="Arial"/>
                <a:ea typeface="Arial"/>
                <a:cs typeface="Arial"/>
              </a:defRPr>
            </a:pPr>
            <a:r>
              <a:rPr sz="1875" b="0">
                <a:solidFill>
                  <a:srgbClr val="586960"/>
                </a:solidFill>
                <a:latin typeface="Arial"/>
                <a:ea typeface="Arial"/>
                <a:cs typeface="Arial"/>
              </a:rPr>
              <a:t>Digital PDF, DOCX and text. OCR is outside this version.</a:t>
            </a:r>
          </a:p>
        </p:txBody>
      </p:sp>
    </p:spTree>
    <p:extLst>
      <p:ext uri="{BB962C8B-B14F-4D97-AF65-F5344CB8AC3E}">
        <p14:creationId xmlns:p14="http://schemas.microsoft.com/office/powerpoint/2010/main" val="1487306434"/>
      </p:ext>
    </p:extLst>
  </p:cSld>
</p:sld>
</file>

<file path=ppt/slides/slide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063842-8F12-4A63-B8F7-DA3DFA0BAC0A}"/>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7634D"/>
                </a:solidFill>
                <a:latin typeface="Arial"/>
                <a:ea typeface="Arial"/>
                <a:cs typeface="Arial"/>
              </a:defRPr>
            </a:defPPr>
            <a:lvl1pPr>
              <a:defRPr sz="4200" b="1">
                <a:solidFill>
                  <a:srgbClr val="17634D"/>
                </a:solidFill>
                <a:latin typeface="Arial"/>
                <a:ea typeface="Arial"/>
                <a:cs typeface="Arial"/>
              </a:defRPr>
            </a:lvl1pPr>
            <a:lvl2pPr>
              <a:defRPr sz="4200" b="1">
                <a:solidFill>
                  <a:srgbClr val="17634D"/>
                </a:solidFill>
                <a:latin typeface="Arial"/>
                <a:ea typeface="Arial"/>
                <a:cs typeface="Arial"/>
              </a:defRPr>
            </a:lvl2pPr>
            <a:lvl3pPr>
              <a:defRPr sz="4200" b="1">
                <a:solidFill>
                  <a:srgbClr val="17634D"/>
                </a:solidFill>
                <a:latin typeface="Arial"/>
                <a:ea typeface="Arial"/>
                <a:cs typeface="Arial"/>
              </a:defRPr>
            </a:lvl3pPr>
            <a:lvl4pPr>
              <a:defRPr sz="4200" b="1">
                <a:solidFill>
                  <a:srgbClr val="17634D"/>
                </a:solidFill>
                <a:latin typeface="Arial"/>
                <a:ea typeface="Arial"/>
                <a:cs typeface="Arial"/>
              </a:defRPr>
            </a:lvl4pPr>
            <a:lvl5pPr>
              <a:defRPr sz="4200" b="1">
                <a:solidFill>
                  <a:srgbClr val="17634D"/>
                </a:solidFill>
                <a:latin typeface="Arial"/>
                <a:ea typeface="Arial"/>
                <a:cs typeface="Arial"/>
              </a:defRPr>
            </a:lvl5pPr>
            <a:lvl6pPr>
              <a:defRPr sz="4200" b="1">
                <a:solidFill>
                  <a:srgbClr val="17634D"/>
                </a:solidFill>
                <a:latin typeface="Arial"/>
                <a:ea typeface="Arial"/>
                <a:cs typeface="Arial"/>
              </a:defRPr>
            </a:lvl6pPr>
            <a:lvl7pPr>
              <a:defRPr sz="4200" b="1">
                <a:solidFill>
                  <a:srgbClr val="17634D"/>
                </a:solidFill>
                <a:latin typeface="Arial"/>
                <a:ea typeface="Arial"/>
                <a:cs typeface="Arial"/>
              </a:defRPr>
            </a:lvl7pPr>
            <a:lvl8pPr>
              <a:defRPr sz="4200" b="1">
                <a:solidFill>
                  <a:srgbClr val="17634D"/>
                </a:solidFill>
                <a:latin typeface="Arial"/>
                <a:ea typeface="Arial"/>
                <a:cs typeface="Arial"/>
              </a:defRPr>
            </a:lvl8pPr>
            <a:lvl9pPr>
              <a:defRPr sz="4200" b="1">
                <a:solidFill>
                  <a:srgbClr val="17634D"/>
                </a:solidFill>
                <a:latin typeface="Arial"/>
                <a:ea typeface="Arial"/>
                <a:cs typeface="Arial"/>
              </a:defRPr>
            </a:lvl9pPr>
          </a:lstStyle>
          <a:p xmlns:a="http://schemas.openxmlformats.org/drawingml/2006/main">
            <a:pPr>
              <a:defRPr sz="4200" b="1">
                <a:solidFill>
                  <a:srgbClr val="17634D"/>
                </a:solidFill>
                <a:latin typeface="Arial"/>
                <a:ea typeface="Arial"/>
                <a:cs typeface="Arial"/>
              </a:defRPr>
            </a:pPr>
            <a:r>
              <a:rPr sz="4200" b="1">
                <a:solidFill>
                  <a:srgbClr val="17634D"/>
                </a:solidFill>
                <a:latin typeface="Arial"/>
                <a:ea typeface="Arial"/>
                <a:cs typeface="Arial"/>
              </a:rPr>
              <a:t>AI with institution control</a:t>
            </a:r>
          </a:p>
        </p:txBody>
      </p:sp>
      <p:sp>
        <p:nvSpPr>
          <p:cNvPr id="2" name="">
            <a:extLst xmlns:a="http://schemas.openxmlformats.org/drawingml/2006/main">
              <a:ext uri="{FF2B5EF4-FFF2-40B4-BE49-F238E27FC236}">
                <a16:creationId xmlns:a16="http://schemas.microsoft.com/office/drawing/2014/main" id="{717844D6-B210-4699-AC06-8E03B04F1AC7}"/>
              </a:ext>
            </a:extLst>
          </p:cNvPr>
          <p:cNvSpPr>
            <a:spLocks xmlns:a="http://schemas.openxmlformats.org/drawingml/2006/main" noGrp="1"/>
          </p:cNvSpPr>
          <p:nvPr/>
        </p:nvSpPr>
        <p:spPr>
          <a:xfrm xmlns:a="http://schemas.openxmlformats.org/drawingml/2006/main">
            <a:off x="685800" y="18097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7634D"/>
                </a:solidFill>
                <a:latin typeface="Arial"/>
                <a:ea typeface="Arial"/>
                <a:cs typeface="Arial"/>
              </a:defRPr>
            </a:defPPr>
            <a:lvl1pPr>
              <a:defRPr sz="2850" b="1">
                <a:solidFill>
                  <a:srgbClr val="17634D"/>
                </a:solidFill>
                <a:latin typeface="Arial"/>
                <a:ea typeface="Arial"/>
                <a:cs typeface="Arial"/>
              </a:defRPr>
            </a:lvl1pPr>
            <a:lvl2pPr>
              <a:defRPr sz="2850" b="1">
                <a:solidFill>
                  <a:srgbClr val="17634D"/>
                </a:solidFill>
                <a:latin typeface="Arial"/>
                <a:ea typeface="Arial"/>
                <a:cs typeface="Arial"/>
              </a:defRPr>
            </a:lvl2pPr>
            <a:lvl3pPr>
              <a:defRPr sz="2850" b="1">
                <a:solidFill>
                  <a:srgbClr val="17634D"/>
                </a:solidFill>
                <a:latin typeface="Arial"/>
                <a:ea typeface="Arial"/>
                <a:cs typeface="Arial"/>
              </a:defRPr>
            </a:lvl3pPr>
            <a:lvl4pPr>
              <a:defRPr sz="2850" b="1">
                <a:solidFill>
                  <a:srgbClr val="17634D"/>
                </a:solidFill>
                <a:latin typeface="Arial"/>
                <a:ea typeface="Arial"/>
                <a:cs typeface="Arial"/>
              </a:defRPr>
            </a:lvl4pPr>
            <a:lvl5pPr>
              <a:defRPr sz="2850" b="1">
                <a:solidFill>
                  <a:srgbClr val="17634D"/>
                </a:solidFill>
                <a:latin typeface="Arial"/>
                <a:ea typeface="Arial"/>
                <a:cs typeface="Arial"/>
              </a:defRPr>
            </a:lvl5pPr>
            <a:lvl6pPr>
              <a:defRPr sz="2850" b="1">
                <a:solidFill>
                  <a:srgbClr val="17634D"/>
                </a:solidFill>
                <a:latin typeface="Arial"/>
                <a:ea typeface="Arial"/>
                <a:cs typeface="Arial"/>
              </a:defRPr>
            </a:lvl6pPr>
            <a:lvl7pPr>
              <a:defRPr sz="2850" b="1">
                <a:solidFill>
                  <a:srgbClr val="17634D"/>
                </a:solidFill>
                <a:latin typeface="Arial"/>
                <a:ea typeface="Arial"/>
                <a:cs typeface="Arial"/>
              </a:defRPr>
            </a:lvl7pPr>
            <a:lvl8pPr>
              <a:defRPr sz="2850" b="1">
                <a:solidFill>
                  <a:srgbClr val="17634D"/>
                </a:solidFill>
                <a:latin typeface="Arial"/>
                <a:ea typeface="Arial"/>
                <a:cs typeface="Arial"/>
              </a:defRPr>
            </a:lvl8pPr>
            <a:lvl9pPr>
              <a:defRPr sz="2850" b="1">
                <a:solidFill>
                  <a:srgbClr val="17634D"/>
                </a:solidFill>
                <a:latin typeface="Arial"/>
                <a:ea typeface="Arial"/>
                <a:cs typeface="Arial"/>
              </a:defRPr>
            </a:lvl9pPr>
          </a:lstStyle>
          <a:p xmlns:a="http://schemas.openxmlformats.org/drawingml/2006/main">
            <a:pPr>
              <a:defRPr sz="2850" b="1">
                <a:solidFill>
                  <a:srgbClr val="17634D"/>
                </a:solidFill>
                <a:latin typeface="Arial"/>
                <a:ea typeface="Arial"/>
                <a:cs typeface="Arial"/>
              </a:defRPr>
            </a:pPr>
            <a:r>
              <a:rPr sz="2850" b="1">
                <a:solidFill>
                  <a:srgbClr val="17634D"/>
                </a:solidFill>
                <a:latin typeface="Arial"/>
                <a:ea typeface="Arial"/>
                <a:cs typeface="Arial"/>
              </a:rPr>
              <a:t>OpenAI</a:t>
            </a:r>
          </a:p>
        </p:txBody>
      </p:sp>
      <p:sp>
        <p:nvSpPr>
          <p:cNvPr id="3" name="">
            <a:extLst xmlns:a="http://schemas.openxmlformats.org/drawingml/2006/main">
              <a:ext uri="{FF2B5EF4-FFF2-40B4-BE49-F238E27FC236}">
                <a16:creationId xmlns:a16="http://schemas.microsoft.com/office/drawing/2014/main" id="{030784A4-F04D-4E12-A620-70FD037828EF}"/>
              </a:ext>
            </a:extLst>
          </p:cNvPr>
          <p:cNvSpPr>
            <a:spLocks xmlns:a="http://schemas.openxmlformats.org/drawingml/2006/main" noGrp="1"/>
          </p:cNvSpPr>
          <p:nvPr/>
        </p:nvSpPr>
        <p:spPr>
          <a:xfrm xmlns:a="http://schemas.openxmlformats.org/drawingml/2006/main">
            <a:off x="3476625" y="1809750"/>
            <a:ext cx="8001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0332E"/>
                </a:solidFill>
                <a:latin typeface="Arial"/>
                <a:ea typeface="Arial"/>
                <a:cs typeface="Arial"/>
              </a:defRPr>
            </a:defPPr>
            <a:lvl1pPr>
              <a:defRPr sz="2400" b="0">
                <a:solidFill>
                  <a:srgbClr val="20332E"/>
                </a:solidFill>
                <a:latin typeface="Arial"/>
                <a:ea typeface="Arial"/>
                <a:cs typeface="Arial"/>
              </a:defRPr>
            </a:lvl1pPr>
            <a:lvl2pPr>
              <a:defRPr sz="2400" b="0">
                <a:solidFill>
                  <a:srgbClr val="20332E"/>
                </a:solidFill>
                <a:latin typeface="Arial"/>
                <a:ea typeface="Arial"/>
                <a:cs typeface="Arial"/>
              </a:defRPr>
            </a:lvl2pPr>
            <a:lvl3pPr>
              <a:defRPr sz="2400" b="0">
                <a:solidFill>
                  <a:srgbClr val="20332E"/>
                </a:solidFill>
                <a:latin typeface="Arial"/>
                <a:ea typeface="Arial"/>
                <a:cs typeface="Arial"/>
              </a:defRPr>
            </a:lvl3pPr>
            <a:lvl4pPr>
              <a:defRPr sz="2400" b="0">
                <a:solidFill>
                  <a:srgbClr val="20332E"/>
                </a:solidFill>
                <a:latin typeface="Arial"/>
                <a:ea typeface="Arial"/>
                <a:cs typeface="Arial"/>
              </a:defRPr>
            </a:lvl4pPr>
            <a:lvl5pPr>
              <a:defRPr sz="2400" b="0">
                <a:solidFill>
                  <a:srgbClr val="20332E"/>
                </a:solidFill>
                <a:latin typeface="Arial"/>
                <a:ea typeface="Arial"/>
                <a:cs typeface="Arial"/>
              </a:defRPr>
            </a:lvl5pPr>
            <a:lvl6pPr>
              <a:defRPr sz="2400" b="0">
                <a:solidFill>
                  <a:srgbClr val="20332E"/>
                </a:solidFill>
                <a:latin typeface="Arial"/>
                <a:ea typeface="Arial"/>
                <a:cs typeface="Arial"/>
              </a:defRPr>
            </a:lvl6pPr>
            <a:lvl7pPr>
              <a:defRPr sz="2400" b="0">
                <a:solidFill>
                  <a:srgbClr val="20332E"/>
                </a:solidFill>
                <a:latin typeface="Arial"/>
                <a:ea typeface="Arial"/>
                <a:cs typeface="Arial"/>
              </a:defRPr>
            </a:lvl7pPr>
            <a:lvl8pPr>
              <a:defRPr sz="2400" b="0">
                <a:solidFill>
                  <a:srgbClr val="20332E"/>
                </a:solidFill>
                <a:latin typeface="Arial"/>
                <a:ea typeface="Arial"/>
                <a:cs typeface="Arial"/>
              </a:defRPr>
            </a:lvl8pPr>
            <a:lvl9pPr>
              <a:defRPr sz="2400" b="0">
                <a:solidFill>
                  <a:srgbClr val="20332E"/>
                </a:solidFill>
                <a:latin typeface="Arial"/>
                <a:ea typeface="Arial"/>
                <a:cs typeface="Arial"/>
              </a:defRPr>
            </a:lvl9pPr>
          </a:lstStyle>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Interpretation, typed extraction, embeddings</a:t>
            </a:r>
          </a:p>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and evidence reranking.</a:t>
            </a:r>
          </a:p>
        </p:txBody>
      </p:sp>
      <p:sp>
        <p:nvSpPr>
          <p:cNvPr id="4" name="">
            <a:extLst xmlns:a="http://schemas.openxmlformats.org/drawingml/2006/main">
              <a:ext uri="{FF2B5EF4-FFF2-40B4-BE49-F238E27FC236}">
                <a16:creationId xmlns:a16="http://schemas.microsoft.com/office/drawing/2014/main" id="{664CB032-C03B-4044-9692-4542A0FA989C}"/>
              </a:ext>
            </a:extLst>
          </p:cNvPr>
          <p:cNvSpPr>
            <a:spLocks xmlns:a="http://schemas.openxmlformats.org/drawingml/2006/main" noGrp="1"/>
          </p:cNvSpPr>
          <p:nvPr/>
        </p:nvSpPr>
        <p:spPr>
          <a:xfrm xmlns:a="http://schemas.openxmlformats.org/drawingml/2006/main">
            <a:off x="685800" y="33051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7634D"/>
                </a:solidFill>
                <a:latin typeface="Arial"/>
                <a:ea typeface="Arial"/>
                <a:cs typeface="Arial"/>
              </a:defRPr>
            </a:defPPr>
            <a:lvl1pPr>
              <a:defRPr sz="2850" b="1">
                <a:solidFill>
                  <a:srgbClr val="17634D"/>
                </a:solidFill>
                <a:latin typeface="Arial"/>
                <a:ea typeface="Arial"/>
                <a:cs typeface="Arial"/>
              </a:defRPr>
            </a:lvl1pPr>
            <a:lvl2pPr>
              <a:defRPr sz="2850" b="1">
                <a:solidFill>
                  <a:srgbClr val="17634D"/>
                </a:solidFill>
                <a:latin typeface="Arial"/>
                <a:ea typeface="Arial"/>
                <a:cs typeface="Arial"/>
              </a:defRPr>
            </a:lvl2pPr>
            <a:lvl3pPr>
              <a:defRPr sz="2850" b="1">
                <a:solidFill>
                  <a:srgbClr val="17634D"/>
                </a:solidFill>
                <a:latin typeface="Arial"/>
                <a:ea typeface="Arial"/>
                <a:cs typeface="Arial"/>
              </a:defRPr>
            </a:lvl3pPr>
            <a:lvl4pPr>
              <a:defRPr sz="2850" b="1">
                <a:solidFill>
                  <a:srgbClr val="17634D"/>
                </a:solidFill>
                <a:latin typeface="Arial"/>
                <a:ea typeface="Arial"/>
                <a:cs typeface="Arial"/>
              </a:defRPr>
            </a:lvl4pPr>
            <a:lvl5pPr>
              <a:defRPr sz="2850" b="1">
                <a:solidFill>
                  <a:srgbClr val="17634D"/>
                </a:solidFill>
                <a:latin typeface="Arial"/>
                <a:ea typeface="Arial"/>
                <a:cs typeface="Arial"/>
              </a:defRPr>
            </a:lvl5pPr>
            <a:lvl6pPr>
              <a:defRPr sz="2850" b="1">
                <a:solidFill>
                  <a:srgbClr val="17634D"/>
                </a:solidFill>
                <a:latin typeface="Arial"/>
                <a:ea typeface="Arial"/>
                <a:cs typeface="Arial"/>
              </a:defRPr>
            </a:lvl6pPr>
            <a:lvl7pPr>
              <a:defRPr sz="2850" b="1">
                <a:solidFill>
                  <a:srgbClr val="17634D"/>
                </a:solidFill>
                <a:latin typeface="Arial"/>
                <a:ea typeface="Arial"/>
                <a:cs typeface="Arial"/>
              </a:defRPr>
            </a:lvl7pPr>
            <a:lvl8pPr>
              <a:defRPr sz="2850" b="1">
                <a:solidFill>
                  <a:srgbClr val="17634D"/>
                </a:solidFill>
                <a:latin typeface="Arial"/>
                <a:ea typeface="Arial"/>
                <a:cs typeface="Arial"/>
              </a:defRPr>
            </a:lvl8pPr>
            <a:lvl9pPr>
              <a:defRPr sz="2850" b="1">
                <a:solidFill>
                  <a:srgbClr val="17634D"/>
                </a:solidFill>
                <a:latin typeface="Arial"/>
                <a:ea typeface="Arial"/>
                <a:cs typeface="Arial"/>
              </a:defRPr>
            </a:lvl9pPr>
          </a:lstStyle>
          <a:p xmlns:a="http://schemas.openxmlformats.org/drawingml/2006/main">
            <a:pPr>
              <a:defRPr sz="2850" b="1">
                <a:solidFill>
                  <a:srgbClr val="17634D"/>
                </a:solidFill>
                <a:latin typeface="Arial"/>
                <a:ea typeface="Arial"/>
                <a:cs typeface="Arial"/>
              </a:defRPr>
            </a:pPr>
            <a:r>
              <a:rPr sz="2850" b="1">
                <a:solidFill>
                  <a:srgbClr val="17634D"/>
                </a:solidFill>
                <a:latin typeface="Arial"/>
                <a:ea typeface="Arial"/>
                <a:cs typeface="Arial"/>
              </a:rPr>
              <a:t>Code</a:t>
            </a:r>
          </a:p>
        </p:txBody>
      </p:sp>
      <p:sp>
        <p:nvSpPr>
          <p:cNvPr id="5" name="">
            <a:extLst xmlns:a="http://schemas.openxmlformats.org/drawingml/2006/main">
              <a:ext uri="{FF2B5EF4-FFF2-40B4-BE49-F238E27FC236}">
                <a16:creationId xmlns:a16="http://schemas.microsoft.com/office/drawing/2014/main" id="{9C216E66-FD8D-4409-A84B-2D150C37731D}"/>
              </a:ext>
            </a:extLst>
          </p:cNvPr>
          <p:cNvSpPr>
            <a:spLocks xmlns:a="http://schemas.openxmlformats.org/drawingml/2006/main" noGrp="1"/>
          </p:cNvSpPr>
          <p:nvPr/>
        </p:nvSpPr>
        <p:spPr>
          <a:xfrm xmlns:a="http://schemas.openxmlformats.org/drawingml/2006/main">
            <a:off x="3476625" y="3305175"/>
            <a:ext cx="800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0332E"/>
                </a:solidFill>
                <a:latin typeface="Arial"/>
                <a:ea typeface="Arial"/>
                <a:cs typeface="Arial"/>
              </a:defRPr>
            </a:defPPr>
            <a:lvl1pPr>
              <a:defRPr sz="2400" b="0">
                <a:solidFill>
                  <a:srgbClr val="20332E"/>
                </a:solidFill>
                <a:latin typeface="Arial"/>
                <a:ea typeface="Arial"/>
                <a:cs typeface="Arial"/>
              </a:defRPr>
            </a:lvl1pPr>
            <a:lvl2pPr>
              <a:defRPr sz="2400" b="0">
                <a:solidFill>
                  <a:srgbClr val="20332E"/>
                </a:solidFill>
                <a:latin typeface="Arial"/>
                <a:ea typeface="Arial"/>
                <a:cs typeface="Arial"/>
              </a:defRPr>
            </a:lvl2pPr>
            <a:lvl3pPr>
              <a:defRPr sz="2400" b="0">
                <a:solidFill>
                  <a:srgbClr val="20332E"/>
                </a:solidFill>
                <a:latin typeface="Arial"/>
                <a:ea typeface="Arial"/>
                <a:cs typeface="Arial"/>
              </a:defRPr>
            </a:lvl3pPr>
            <a:lvl4pPr>
              <a:defRPr sz="2400" b="0">
                <a:solidFill>
                  <a:srgbClr val="20332E"/>
                </a:solidFill>
                <a:latin typeface="Arial"/>
                <a:ea typeface="Arial"/>
                <a:cs typeface="Arial"/>
              </a:defRPr>
            </a:lvl4pPr>
            <a:lvl5pPr>
              <a:defRPr sz="2400" b="0">
                <a:solidFill>
                  <a:srgbClr val="20332E"/>
                </a:solidFill>
                <a:latin typeface="Arial"/>
                <a:ea typeface="Arial"/>
                <a:cs typeface="Arial"/>
              </a:defRPr>
            </a:lvl5pPr>
            <a:lvl6pPr>
              <a:defRPr sz="2400" b="0">
                <a:solidFill>
                  <a:srgbClr val="20332E"/>
                </a:solidFill>
                <a:latin typeface="Arial"/>
                <a:ea typeface="Arial"/>
                <a:cs typeface="Arial"/>
              </a:defRPr>
            </a:lvl6pPr>
            <a:lvl7pPr>
              <a:defRPr sz="2400" b="0">
                <a:solidFill>
                  <a:srgbClr val="20332E"/>
                </a:solidFill>
                <a:latin typeface="Arial"/>
                <a:ea typeface="Arial"/>
                <a:cs typeface="Arial"/>
              </a:defRPr>
            </a:lvl7pPr>
            <a:lvl8pPr>
              <a:defRPr sz="2400" b="0">
                <a:solidFill>
                  <a:srgbClr val="20332E"/>
                </a:solidFill>
                <a:latin typeface="Arial"/>
                <a:ea typeface="Arial"/>
                <a:cs typeface="Arial"/>
              </a:defRPr>
            </a:lvl8pPr>
            <a:lvl9pPr>
              <a:defRPr sz="2400" b="0">
                <a:solidFill>
                  <a:srgbClr val="20332E"/>
                </a:solidFill>
                <a:latin typeface="Arial"/>
                <a:ea typeface="Arial"/>
                <a:cs typeface="Arial"/>
              </a:defRPr>
            </a:lvl9pPr>
          </a:lstStyle>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Eligibility, fees, tenant access</a:t>
            </a:r>
          </a:p>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and application changes.</a:t>
            </a:r>
          </a:p>
        </p:txBody>
      </p:sp>
      <p:sp>
        <p:nvSpPr>
          <p:cNvPr id="6" name="">
            <a:extLst xmlns:a="http://schemas.openxmlformats.org/drawingml/2006/main">
              <a:ext uri="{FF2B5EF4-FFF2-40B4-BE49-F238E27FC236}">
                <a16:creationId xmlns:a16="http://schemas.microsoft.com/office/drawing/2014/main" id="{D31C2476-A6AD-456B-BAD3-B0AF3BCBEA17}"/>
              </a:ext>
            </a:extLst>
          </p:cNvPr>
          <p:cNvSpPr>
            <a:spLocks xmlns:a="http://schemas.openxmlformats.org/drawingml/2006/main" noGrp="1"/>
          </p:cNvSpPr>
          <p:nvPr/>
        </p:nvSpPr>
        <p:spPr>
          <a:xfrm xmlns:a="http://schemas.openxmlformats.org/drawingml/2006/main">
            <a:off x="685800" y="47625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7634D"/>
                </a:solidFill>
                <a:latin typeface="Arial"/>
                <a:ea typeface="Arial"/>
                <a:cs typeface="Arial"/>
              </a:defRPr>
            </a:defPPr>
            <a:lvl1pPr>
              <a:defRPr sz="2700" b="1">
                <a:solidFill>
                  <a:srgbClr val="17634D"/>
                </a:solidFill>
                <a:latin typeface="Arial"/>
                <a:ea typeface="Arial"/>
                <a:cs typeface="Arial"/>
              </a:defRPr>
            </a:lvl1pPr>
            <a:lvl2pPr>
              <a:defRPr sz="2700" b="1">
                <a:solidFill>
                  <a:srgbClr val="17634D"/>
                </a:solidFill>
                <a:latin typeface="Arial"/>
                <a:ea typeface="Arial"/>
                <a:cs typeface="Arial"/>
              </a:defRPr>
            </a:lvl2pPr>
            <a:lvl3pPr>
              <a:defRPr sz="2700" b="1">
                <a:solidFill>
                  <a:srgbClr val="17634D"/>
                </a:solidFill>
                <a:latin typeface="Arial"/>
                <a:ea typeface="Arial"/>
                <a:cs typeface="Arial"/>
              </a:defRPr>
            </a:lvl3pPr>
            <a:lvl4pPr>
              <a:defRPr sz="2700" b="1">
                <a:solidFill>
                  <a:srgbClr val="17634D"/>
                </a:solidFill>
                <a:latin typeface="Arial"/>
                <a:ea typeface="Arial"/>
                <a:cs typeface="Arial"/>
              </a:defRPr>
            </a:lvl4pPr>
            <a:lvl5pPr>
              <a:defRPr sz="2700" b="1">
                <a:solidFill>
                  <a:srgbClr val="17634D"/>
                </a:solidFill>
                <a:latin typeface="Arial"/>
                <a:ea typeface="Arial"/>
                <a:cs typeface="Arial"/>
              </a:defRPr>
            </a:lvl5pPr>
            <a:lvl6pPr>
              <a:defRPr sz="2700" b="1">
                <a:solidFill>
                  <a:srgbClr val="17634D"/>
                </a:solidFill>
                <a:latin typeface="Arial"/>
                <a:ea typeface="Arial"/>
                <a:cs typeface="Arial"/>
              </a:defRPr>
            </a:lvl6pPr>
            <a:lvl7pPr>
              <a:defRPr sz="2700" b="1">
                <a:solidFill>
                  <a:srgbClr val="17634D"/>
                </a:solidFill>
                <a:latin typeface="Arial"/>
                <a:ea typeface="Arial"/>
                <a:cs typeface="Arial"/>
              </a:defRPr>
            </a:lvl7pPr>
            <a:lvl8pPr>
              <a:defRPr sz="2700" b="1">
                <a:solidFill>
                  <a:srgbClr val="17634D"/>
                </a:solidFill>
                <a:latin typeface="Arial"/>
                <a:ea typeface="Arial"/>
                <a:cs typeface="Arial"/>
              </a:defRPr>
            </a:lvl8pPr>
            <a:lvl9pPr>
              <a:defRPr sz="2700" b="1">
                <a:solidFill>
                  <a:srgbClr val="17634D"/>
                </a:solidFill>
                <a:latin typeface="Arial"/>
                <a:ea typeface="Arial"/>
                <a:cs typeface="Arial"/>
              </a:defRPr>
            </a:lvl9pPr>
          </a:lstStyle>
          <a:p xmlns:a="http://schemas.openxmlformats.org/drawingml/2006/main">
            <a:pPr>
              <a:defRPr sz="2700" b="1">
                <a:solidFill>
                  <a:srgbClr val="17634D"/>
                </a:solidFill>
                <a:latin typeface="Arial"/>
                <a:ea typeface="Arial"/>
                <a:cs typeface="Arial"/>
              </a:defRPr>
            </a:pPr>
            <a:r>
              <a:rPr sz="2700" b="1">
                <a:solidFill>
                  <a:srgbClr val="17634D"/>
                </a:solidFill>
                <a:latin typeface="Arial"/>
                <a:ea typeface="Arial"/>
                <a:cs typeface="Arial"/>
              </a:rPr>
              <a:t>Verification</a:t>
            </a:r>
          </a:p>
        </p:txBody>
      </p:sp>
      <p:sp>
        <p:nvSpPr>
          <p:cNvPr id="7" name="">
            <a:extLst xmlns:a="http://schemas.openxmlformats.org/drawingml/2006/main">
              <a:ext uri="{FF2B5EF4-FFF2-40B4-BE49-F238E27FC236}">
                <a16:creationId xmlns:a16="http://schemas.microsoft.com/office/drawing/2014/main" id="{0E270BB6-A456-4933-A51D-7E5396F37D77}"/>
              </a:ext>
            </a:extLst>
          </p:cNvPr>
          <p:cNvSpPr>
            <a:spLocks xmlns:a="http://schemas.openxmlformats.org/drawingml/2006/main" noGrp="1"/>
          </p:cNvSpPr>
          <p:nvPr/>
        </p:nvSpPr>
        <p:spPr>
          <a:xfrm xmlns:a="http://schemas.openxmlformats.org/drawingml/2006/main">
            <a:off x="3476625" y="4762500"/>
            <a:ext cx="800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0332E"/>
                </a:solidFill>
                <a:latin typeface="Arial"/>
                <a:ea typeface="Arial"/>
                <a:cs typeface="Arial"/>
              </a:defRPr>
            </a:defPPr>
            <a:lvl1pPr>
              <a:defRPr sz="2250" b="0">
                <a:solidFill>
                  <a:srgbClr val="20332E"/>
                </a:solidFill>
                <a:latin typeface="Arial"/>
                <a:ea typeface="Arial"/>
                <a:cs typeface="Arial"/>
              </a:defRPr>
            </a:lvl1pPr>
            <a:lvl2pPr>
              <a:defRPr sz="2250" b="0">
                <a:solidFill>
                  <a:srgbClr val="20332E"/>
                </a:solidFill>
                <a:latin typeface="Arial"/>
                <a:ea typeface="Arial"/>
                <a:cs typeface="Arial"/>
              </a:defRPr>
            </a:lvl2pPr>
            <a:lvl3pPr>
              <a:defRPr sz="2250" b="0">
                <a:solidFill>
                  <a:srgbClr val="20332E"/>
                </a:solidFill>
                <a:latin typeface="Arial"/>
                <a:ea typeface="Arial"/>
                <a:cs typeface="Arial"/>
              </a:defRPr>
            </a:lvl3pPr>
            <a:lvl4pPr>
              <a:defRPr sz="2250" b="0">
                <a:solidFill>
                  <a:srgbClr val="20332E"/>
                </a:solidFill>
                <a:latin typeface="Arial"/>
                <a:ea typeface="Arial"/>
                <a:cs typeface="Arial"/>
              </a:defRPr>
            </a:lvl4pPr>
            <a:lvl5pPr>
              <a:defRPr sz="2250" b="0">
                <a:solidFill>
                  <a:srgbClr val="20332E"/>
                </a:solidFill>
                <a:latin typeface="Arial"/>
                <a:ea typeface="Arial"/>
                <a:cs typeface="Arial"/>
              </a:defRPr>
            </a:lvl5pPr>
            <a:lvl6pPr>
              <a:defRPr sz="2250" b="0">
                <a:solidFill>
                  <a:srgbClr val="20332E"/>
                </a:solidFill>
                <a:latin typeface="Arial"/>
                <a:ea typeface="Arial"/>
                <a:cs typeface="Arial"/>
              </a:defRPr>
            </a:lvl6pPr>
            <a:lvl7pPr>
              <a:defRPr sz="2250" b="0">
                <a:solidFill>
                  <a:srgbClr val="20332E"/>
                </a:solidFill>
                <a:latin typeface="Arial"/>
                <a:ea typeface="Arial"/>
                <a:cs typeface="Arial"/>
              </a:defRPr>
            </a:lvl7pPr>
            <a:lvl8pPr>
              <a:defRPr sz="2250" b="0">
                <a:solidFill>
                  <a:srgbClr val="20332E"/>
                </a:solidFill>
                <a:latin typeface="Arial"/>
                <a:ea typeface="Arial"/>
                <a:cs typeface="Arial"/>
              </a:defRPr>
            </a:lvl8pPr>
            <a:lvl9pPr>
              <a:defRPr sz="2250" b="0">
                <a:solidFill>
                  <a:srgbClr val="20332E"/>
                </a:solidFill>
                <a:latin typeface="Arial"/>
                <a:ea typeface="Arial"/>
                <a:cs typeface="Arial"/>
              </a:defRPr>
            </a:lvl9pPr>
          </a:lstStyle>
          <a:p xmlns:a="http://schemas.openxmlformats.org/drawingml/2006/main">
            <a:pPr>
              <a:defRPr sz="2250" b="0">
                <a:solidFill>
                  <a:srgbClr val="20332E"/>
                </a:solidFill>
                <a:latin typeface="Arial"/>
                <a:ea typeface="Arial"/>
                <a:cs typeface="Arial"/>
              </a:defRPr>
            </a:pPr>
            <a:r>
              <a:rPr sz="2250" b="0">
                <a:solidFill>
                  <a:srgbClr val="20332E"/>
                </a:solidFill>
                <a:latin typeface="Arial"/>
                <a:ea typeface="Arial"/>
                <a:cs typeface="Arial"/>
              </a:rPr>
              <a:t>Live OpenAI and a confirmed Telegram roundtrip.</a:t>
            </a:r>
          </a:p>
          <a:p xmlns:a="http://schemas.openxmlformats.org/drawingml/2006/main">
            <a:pPr>
              <a:defRPr sz="2250" b="0">
                <a:solidFill>
                  <a:srgbClr val="20332E"/>
                </a:solidFill>
                <a:latin typeface="Arial"/>
                <a:ea typeface="Arial"/>
                <a:cs typeface="Arial"/>
              </a:defRPr>
            </a:pPr>
            <a:r>
              <a:rPr sz="2250" b="0">
                <a:solidFill>
                  <a:srgbClr val="20332E"/>
                </a:solidFill>
                <a:latin typeface="Arial"/>
                <a:ea typeface="Arial"/>
                <a:cs typeface="Arial"/>
              </a:rPr>
              <a:t>252 default tests and 87 PostgreSQL checks.</a:t>
            </a:r>
          </a:p>
        </p:txBody>
      </p:sp>
      <p:sp>
        <p:nvSpPr>
          <p:cNvPr id="8" name="">
            <a:extLst xmlns:a="http://schemas.openxmlformats.org/drawingml/2006/main">
              <a:ext uri="{FF2B5EF4-FFF2-40B4-BE49-F238E27FC236}">
                <a16:creationId xmlns:a16="http://schemas.microsoft.com/office/drawing/2014/main" id="{7E5C10DD-07B6-46F7-8A2B-B65E79A829E3}"/>
              </a:ext>
            </a:extLst>
          </p:cNvPr>
          <p:cNvSpPr>
            <a:spLocks xmlns:a="http://schemas.openxmlformats.org/drawingml/2006/main" noGrp="1"/>
          </p:cNvSpPr>
          <p:nvPr/>
        </p:nvSpPr>
        <p:spPr>
          <a:xfrm xmlns:a="http://schemas.openxmlformats.org/drawingml/2006/main">
            <a:off x="685800" y="62103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86960"/>
                </a:solidFill>
                <a:latin typeface="Arial"/>
                <a:ea typeface="Arial"/>
                <a:cs typeface="Arial"/>
              </a:defRPr>
            </a:defPPr>
            <a:lvl1pPr>
              <a:defRPr sz="1800" b="0">
                <a:solidFill>
                  <a:srgbClr val="586960"/>
                </a:solidFill>
                <a:latin typeface="Arial"/>
                <a:ea typeface="Arial"/>
                <a:cs typeface="Arial"/>
              </a:defRPr>
            </a:lvl1pPr>
            <a:lvl2pPr>
              <a:defRPr sz="1800" b="0">
                <a:solidFill>
                  <a:srgbClr val="586960"/>
                </a:solidFill>
                <a:latin typeface="Arial"/>
                <a:ea typeface="Arial"/>
                <a:cs typeface="Arial"/>
              </a:defRPr>
            </a:lvl2pPr>
            <a:lvl3pPr>
              <a:defRPr sz="1800" b="0">
                <a:solidFill>
                  <a:srgbClr val="586960"/>
                </a:solidFill>
                <a:latin typeface="Arial"/>
                <a:ea typeface="Arial"/>
                <a:cs typeface="Arial"/>
              </a:defRPr>
            </a:lvl3pPr>
            <a:lvl4pPr>
              <a:defRPr sz="1800" b="0">
                <a:solidFill>
                  <a:srgbClr val="586960"/>
                </a:solidFill>
                <a:latin typeface="Arial"/>
                <a:ea typeface="Arial"/>
                <a:cs typeface="Arial"/>
              </a:defRPr>
            </a:lvl4pPr>
            <a:lvl5pPr>
              <a:defRPr sz="1800" b="0">
                <a:solidFill>
                  <a:srgbClr val="586960"/>
                </a:solidFill>
                <a:latin typeface="Arial"/>
                <a:ea typeface="Arial"/>
                <a:cs typeface="Arial"/>
              </a:defRPr>
            </a:lvl5pPr>
            <a:lvl6pPr>
              <a:defRPr sz="1800" b="0">
                <a:solidFill>
                  <a:srgbClr val="586960"/>
                </a:solidFill>
                <a:latin typeface="Arial"/>
                <a:ea typeface="Arial"/>
                <a:cs typeface="Arial"/>
              </a:defRPr>
            </a:lvl6pPr>
            <a:lvl7pPr>
              <a:defRPr sz="1800" b="0">
                <a:solidFill>
                  <a:srgbClr val="586960"/>
                </a:solidFill>
                <a:latin typeface="Arial"/>
                <a:ea typeface="Arial"/>
                <a:cs typeface="Arial"/>
              </a:defRPr>
            </a:lvl7pPr>
            <a:lvl8pPr>
              <a:defRPr sz="1800" b="0">
                <a:solidFill>
                  <a:srgbClr val="586960"/>
                </a:solidFill>
                <a:latin typeface="Arial"/>
                <a:ea typeface="Arial"/>
                <a:cs typeface="Arial"/>
              </a:defRPr>
            </a:lvl8pPr>
            <a:lvl9pPr>
              <a:defRPr sz="1800" b="0">
                <a:solidFill>
                  <a:srgbClr val="586960"/>
                </a:solidFill>
                <a:latin typeface="Arial"/>
                <a:ea typeface="Arial"/>
                <a:cs typeface="Arial"/>
              </a:defRPr>
            </a:lvl9pPr>
          </a:lstStyle>
          <a:p xmlns:a="http://schemas.openxmlformats.org/drawingml/2006/main">
            <a:pPr>
              <a:defRPr sz="1800" b="0">
                <a:solidFill>
                  <a:srgbClr val="586960"/>
                </a:solidFill>
                <a:latin typeface="Arial"/>
                <a:ea typeface="Arial"/>
                <a:cs typeface="Arial"/>
              </a:defRPr>
            </a:pPr>
            <a:r>
              <a:rPr sz="1800" b="0">
                <a:solidFill>
                  <a:srgbClr val="586960"/>
                </a:solidFill>
                <a:latin typeface="Arial"/>
                <a:ea typeface="Arial"/>
                <a:cs typeface="Arial"/>
              </a:rPr>
              <a:t>FastAPI, PostgreSQL/pgvector, Redis/TaskIQ and Next.js.</a:t>
            </a:r>
          </a:p>
        </p:txBody>
      </p:sp>
    </p:spTree>
    <p:extLst>
      <p:ext uri="{BB962C8B-B14F-4D97-AF65-F5344CB8AC3E}">
        <p14:creationId xmlns:p14="http://schemas.microsoft.com/office/powerpoint/2010/main" val="1355056436"/>
      </p:ext>
    </p:extLst>
  </p:cSld>
</p:sld>
</file>

<file path=ppt/slides/slide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0BAFC9-76CF-4174-BD06-5C3E99F466F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17634D"/>
                </a:solidFill>
                <a:latin typeface="Arial"/>
                <a:ea typeface="Arial"/>
                <a:cs typeface="Arial"/>
              </a:defRPr>
            </a:defPPr>
            <a:lvl1pPr>
              <a:defRPr sz="4200" b="1">
                <a:solidFill>
                  <a:srgbClr val="17634D"/>
                </a:solidFill>
                <a:latin typeface="Arial"/>
                <a:ea typeface="Arial"/>
                <a:cs typeface="Arial"/>
              </a:defRPr>
            </a:lvl1pPr>
            <a:lvl2pPr>
              <a:defRPr sz="4200" b="1">
                <a:solidFill>
                  <a:srgbClr val="17634D"/>
                </a:solidFill>
                <a:latin typeface="Arial"/>
                <a:ea typeface="Arial"/>
                <a:cs typeface="Arial"/>
              </a:defRPr>
            </a:lvl2pPr>
            <a:lvl3pPr>
              <a:defRPr sz="4200" b="1">
                <a:solidFill>
                  <a:srgbClr val="17634D"/>
                </a:solidFill>
                <a:latin typeface="Arial"/>
                <a:ea typeface="Arial"/>
                <a:cs typeface="Arial"/>
              </a:defRPr>
            </a:lvl3pPr>
            <a:lvl4pPr>
              <a:defRPr sz="4200" b="1">
                <a:solidFill>
                  <a:srgbClr val="17634D"/>
                </a:solidFill>
                <a:latin typeface="Arial"/>
                <a:ea typeface="Arial"/>
                <a:cs typeface="Arial"/>
              </a:defRPr>
            </a:lvl4pPr>
            <a:lvl5pPr>
              <a:defRPr sz="4200" b="1">
                <a:solidFill>
                  <a:srgbClr val="17634D"/>
                </a:solidFill>
                <a:latin typeface="Arial"/>
                <a:ea typeface="Arial"/>
                <a:cs typeface="Arial"/>
              </a:defRPr>
            </a:lvl5pPr>
            <a:lvl6pPr>
              <a:defRPr sz="4200" b="1">
                <a:solidFill>
                  <a:srgbClr val="17634D"/>
                </a:solidFill>
                <a:latin typeface="Arial"/>
                <a:ea typeface="Arial"/>
                <a:cs typeface="Arial"/>
              </a:defRPr>
            </a:lvl6pPr>
            <a:lvl7pPr>
              <a:defRPr sz="4200" b="1">
                <a:solidFill>
                  <a:srgbClr val="17634D"/>
                </a:solidFill>
                <a:latin typeface="Arial"/>
                <a:ea typeface="Arial"/>
                <a:cs typeface="Arial"/>
              </a:defRPr>
            </a:lvl7pPr>
            <a:lvl8pPr>
              <a:defRPr sz="4200" b="1">
                <a:solidFill>
                  <a:srgbClr val="17634D"/>
                </a:solidFill>
                <a:latin typeface="Arial"/>
                <a:ea typeface="Arial"/>
                <a:cs typeface="Arial"/>
              </a:defRPr>
            </a:lvl8pPr>
            <a:lvl9pPr>
              <a:defRPr sz="4200" b="1">
                <a:solidFill>
                  <a:srgbClr val="17634D"/>
                </a:solidFill>
                <a:latin typeface="Arial"/>
                <a:ea typeface="Arial"/>
                <a:cs typeface="Arial"/>
              </a:defRPr>
            </a:lvl9pPr>
          </a:lstStyle>
          <a:p xmlns:a="http://schemas.openxmlformats.org/drawingml/2006/main">
            <a:pPr>
              <a:defRPr sz="4200" b="1">
                <a:solidFill>
                  <a:srgbClr val="17634D"/>
                </a:solidFill>
                <a:latin typeface="Arial"/>
                <a:ea typeface="Arial"/>
                <a:cs typeface="Arial"/>
              </a:defRPr>
            </a:pPr>
            <a:r>
              <a:rPr sz="4200" b="1">
                <a:solidFill>
                  <a:srgbClr val="17634D"/>
                </a:solidFill>
                <a:latin typeface="Arial"/>
                <a:ea typeface="Arial"/>
                <a:cs typeface="Arial"/>
              </a:rPr>
              <a:t>An institution pilot</a:t>
            </a:r>
          </a:p>
        </p:txBody>
      </p:sp>
      <p:sp>
        <p:nvSpPr>
          <p:cNvPr id="2" name="">
            <a:extLst xmlns:a="http://schemas.openxmlformats.org/drawingml/2006/main">
              <a:ext uri="{FF2B5EF4-FFF2-40B4-BE49-F238E27FC236}">
                <a16:creationId xmlns:a16="http://schemas.microsoft.com/office/drawing/2014/main" id="{46F70EBF-4556-4990-A5FA-50E525C1AA97}"/>
              </a:ext>
            </a:extLst>
          </p:cNvPr>
          <p:cNvSpPr>
            <a:spLocks xmlns:a="http://schemas.openxmlformats.org/drawingml/2006/main" noGrp="1"/>
          </p:cNvSpPr>
          <p:nvPr/>
        </p:nvSpPr>
        <p:spPr>
          <a:xfrm xmlns:a="http://schemas.openxmlformats.org/drawingml/2006/main">
            <a:off x="685800" y="18097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20332E"/>
                </a:solidFill>
                <a:latin typeface="Arial"/>
                <a:ea typeface="Arial"/>
                <a:cs typeface="Arial"/>
              </a:defRPr>
            </a:defPPr>
            <a:lvl1pPr>
              <a:defRPr sz="2700" b="1">
                <a:solidFill>
                  <a:srgbClr val="20332E"/>
                </a:solidFill>
                <a:latin typeface="Arial"/>
                <a:ea typeface="Arial"/>
                <a:cs typeface="Arial"/>
              </a:defRPr>
            </a:lvl1pPr>
            <a:lvl2pPr>
              <a:defRPr sz="2700" b="1">
                <a:solidFill>
                  <a:srgbClr val="20332E"/>
                </a:solidFill>
                <a:latin typeface="Arial"/>
                <a:ea typeface="Arial"/>
                <a:cs typeface="Arial"/>
              </a:defRPr>
            </a:lvl2pPr>
            <a:lvl3pPr>
              <a:defRPr sz="2700" b="1">
                <a:solidFill>
                  <a:srgbClr val="20332E"/>
                </a:solidFill>
                <a:latin typeface="Arial"/>
                <a:ea typeface="Arial"/>
                <a:cs typeface="Arial"/>
              </a:defRPr>
            </a:lvl3pPr>
            <a:lvl4pPr>
              <a:defRPr sz="2700" b="1">
                <a:solidFill>
                  <a:srgbClr val="20332E"/>
                </a:solidFill>
                <a:latin typeface="Arial"/>
                <a:ea typeface="Arial"/>
                <a:cs typeface="Arial"/>
              </a:defRPr>
            </a:lvl4pPr>
            <a:lvl5pPr>
              <a:defRPr sz="2700" b="1">
                <a:solidFill>
                  <a:srgbClr val="20332E"/>
                </a:solidFill>
                <a:latin typeface="Arial"/>
                <a:ea typeface="Arial"/>
                <a:cs typeface="Arial"/>
              </a:defRPr>
            </a:lvl5pPr>
            <a:lvl6pPr>
              <a:defRPr sz="2700" b="1">
                <a:solidFill>
                  <a:srgbClr val="20332E"/>
                </a:solidFill>
                <a:latin typeface="Arial"/>
                <a:ea typeface="Arial"/>
                <a:cs typeface="Arial"/>
              </a:defRPr>
            </a:lvl6pPr>
            <a:lvl7pPr>
              <a:defRPr sz="2700" b="1">
                <a:solidFill>
                  <a:srgbClr val="20332E"/>
                </a:solidFill>
                <a:latin typeface="Arial"/>
                <a:ea typeface="Arial"/>
                <a:cs typeface="Arial"/>
              </a:defRPr>
            </a:lvl7pPr>
            <a:lvl8pPr>
              <a:defRPr sz="2700" b="1">
                <a:solidFill>
                  <a:srgbClr val="20332E"/>
                </a:solidFill>
                <a:latin typeface="Arial"/>
                <a:ea typeface="Arial"/>
                <a:cs typeface="Arial"/>
              </a:defRPr>
            </a:lvl8pPr>
            <a:lvl9pPr>
              <a:defRPr sz="2700" b="1">
                <a:solidFill>
                  <a:srgbClr val="20332E"/>
                </a:solidFill>
                <a:latin typeface="Arial"/>
                <a:ea typeface="Arial"/>
                <a:cs typeface="Arial"/>
              </a:defRPr>
            </a:lvl9pPr>
          </a:lstStyle>
          <a:p xmlns:a="http://schemas.openxmlformats.org/drawingml/2006/main">
            <a:pPr>
              <a:defRPr sz="2700" b="1">
                <a:solidFill>
                  <a:srgbClr val="20332E"/>
                </a:solidFill>
                <a:latin typeface="Arial"/>
                <a:ea typeface="Arial"/>
                <a:cs typeface="Arial"/>
              </a:defRPr>
            </a:pPr>
            <a:r>
              <a:rPr sz="2700" b="1">
                <a:solidFill>
                  <a:srgbClr val="20332E"/>
                </a:solidFill>
                <a:latin typeface="Arial"/>
                <a:ea typeface="Arial"/>
                <a:cs typeface="Arial"/>
              </a:rPr>
              <a:t>Proposed buyer: admissions teams in Kerala institutions.</a:t>
            </a:r>
          </a:p>
        </p:txBody>
      </p:sp>
      <p:sp>
        <p:nvSpPr>
          <p:cNvPr id="3" name="">
            <a:extLst xmlns:a="http://schemas.openxmlformats.org/drawingml/2006/main">
              <a:ext uri="{FF2B5EF4-FFF2-40B4-BE49-F238E27FC236}">
                <a16:creationId xmlns:a16="http://schemas.microsoft.com/office/drawing/2014/main" id="{EB62B521-223E-438D-B422-7F5FCDDC97ED}"/>
              </a:ext>
            </a:extLst>
          </p:cNvPr>
          <p:cNvSpPr>
            <a:spLocks xmlns:a="http://schemas.openxmlformats.org/drawingml/2006/main" noGrp="1"/>
          </p:cNvSpPr>
          <p:nvPr/>
        </p:nvSpPr>
        <p:spPr>
          <a:xfrm xmlns:a="http://schemas.openxmlformats.org/drawingml/2006/main">
            <a:off x="685800" y="31051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20332E"/>
                </a:solidFill>
                <a:latin typeface="Arial"/>
                <a:ea typeface="Arial"/>
                <a:cs typeface="Arial"/>
              </a:defRPr>
            </a:defPPr>
            <a:lvl1pPr>
              <a:defRPr sz="2400" b="0">
                <a:solidFill>
                  <a:srgbClr val="20332E"/>
                </a:solidFill>
                <a:latin typeface="Arial"/>
                <a:ea typeface="Arial"/>
                <a:cs typeface="Arial"/>
              </a:defRPr>
            </a:lvl1pPr>
            <a:lvl2pPr>
              <a:defRPr sz="2400" b="0">
                <a:solidFill>
                  <a:srgbClr val="20332E"/>
                </a:solidFill>
                <a:latin typeface="Arial"/>
                <a:ea typeface="Arial"/>
                <a:cs typeface="Arial"/>
              </a:defRPr>
            </a:lvl2pPr>
            <a:lvl3pPr>
              <a:defRPr sz="2400" b="0">
                <a:solidFill>
                  <a:srgbClr val="20332E"/>
                </a:solidFill>
                <a:latin typeface="Arial"/>
                <a:ea typeface="Arial"/>
                <a:cs typeface="Arial"/>
              </a:defRPr>
            </a:lvl3pPr>
            <a:lvl4pPr>
              <a:defRPr sz="2400" b="0">
                <a:solidFill>
                  <a:srgbClr val="20332E"/>
                </a:solidFill>
                <a:latin typeface="Arial"/>
                <a:ea typeface="Arial"/>
                <a:cs typeface="Arial"/>
              </a:defRPr>
            </a:lvl4pPr>
            <a:lvl5pPr>
              <a:defRPr sz="2400" b="0">
                <a:solidFill>
                  <a:srgbClr val="20332E"/>
                </a:solidFill>
                <a:latin typeface="Arial"/>
                <a:ea typeface="Arial"/>
                <a:cs typeface="Arial"/>
              </a:defRPr>
            </a:lvl5pPr>
            <a:lvl6pPr>
              <a:defRPr sz="2400" b="0">
                <a:solidFill>
                  <a:srgbClr val="20332E"/>
                </a:solidFill>
                <a:latin typeface="Arial"/>
                <a:ea typeface="Arial"/>
                <a:cs typeface="Arial"/>
              </a:defRPr>
            </a:lvl6pPr>
            <a:lvl7pPr>
              <a:defRPr sz="2400" b="0">
                <a:solidFill>
                  <a:srgbClr val="20332E"/>
                </a:solidFill>
                <a:latin typeface="Arial"/>
                <a:ea typeface="Arial"/>
                <a:cs typeface="Arial"/>
              </a:defRPr>
            </a:lvl7pPr>
            <a:lvl8pPr>
              <a:defRPr sz="2400" b="0">
                <a:solidFill>
                  <a:srgbClr val="20332E"/>
                </a:solidFill>
                <a:latin typeface="Arial"/>
                <a:ea typeface="Arial"/>
                <a:cs typeface="Arial"/>
              </a:defRPr>
            </a:lvl8pPr>
            <a:lvl9pPr>
              <a:defRPr sz="2400" b="0">
                <a:solidFill>
                  <a:srgbClr val="20332E"/>
                </a:solidFill>
                <a:latin typeface="Arial"/>
                <a:ea typeface="Arial"/>
                <a:cs typeface="Arial"/>
              </a:defRPr>
            </a:lvl9pPr>
          </a:lstStyle>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A paid institution workspace is the business model to test.</a:t>
            </a:r>
          </a:p>
          <a:p xmlns:a="http://schemas.openxmlformats.org/drawingml/2006/main">
            <a:pPr>
              <a:defRPr sz="2400" b="0">
                <a:solidFill>
                  <a:srgbClr val="20332E"/>
                </a:solidFill>
                <a:latin typeface="Arial"/>
                <a:ea typeface="Arial"/>
                <a:cs typeface="Arial"/>
              </a:defRPr>
            </a:pPr>
            <a:r>
              <a:rPr sz="2400" b="0">
                <a:solidFill>
                  <a:srgbClr val="20332E"/>
                </a:solidFill>
                <a:latin typeface="Arial"/>
                <a:ea typeface="Arial"/>
                <a:cs typeface="Arial"/>
              </a:rPr>
              <a:t>Pricing and willingness to pay remain unvalidated.</a:t>
            </a:r>
          </a:p>
        </p:txBody>
      </p:sp>
      <p:sp>
        <p:nvSpPr>
          <p:cNvPr id="4" name="">
            <a:extLst xmlns:a="http://schemas.openxmlformats.org/drawingml/2006/main">
              <a:ext uri="{FF2B5EF4-FFF2-40B4-BE49-F238E27FC236}">
                <a16:creationId xmlns:a16="http://schemas.microsoft.com/office/drawing/2014/main" id="{34FD3B7A-CA6D-4C35-B3A4-1224AAC05B00}"/>
              </a:ext>
            </a:extLst>
          </p:cNvPr>
          <p:cNvSpPr>
            <a:spLocks xmlns:a="http://schemas.openxmlformats.org/drawingml/2006/main" noGrp="1"/>
          </p:cNvSpPr>
          <p:nvPr/>
        </p:nvSpPr>
        <p:spPr>
          <a:xfrm xmlns:a="http://schemas.openxmlformats.org/drawingml/2006/main">
            <a:off x="685800" y="46291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17634D"/>
                </a:solidFill>
                <a:latin typeface="Arial"/>
                <a:ea typeface="Arial"/>
                <a:cs typeface="Arial"/>
              </a:defRPr>
            </a:defPPr>
            <a:lvl1pPr>
              <a:defRPr sz="2400" b="0">
                <a:solidFill>
                  <a:srgbClr val="17634D"/>
                </a:solidFill>
                <a:latin typeface="Arial"/>
                <a:ea typeface="Arial"/>
                <a:cs typeface="Arial"/>
              </a:defRPr>
            </a:lvl1pPr>
            <a:lvl2pPr>
              <a:defRPr sz="2400" b="0">
                <a:solidFill>
                  <a:srgbClr val="17634D"/>
                </a:solidFill>
                <a:latin typeface="Arial"/>
                <a:ea typeface="Arial"/>
                <a:cs typeface="Arial"/>
              </a:defRPr>
            </a:lvl2pPr>
            <a:lvl3pPr>
              <a:defRPr sz="2400" b="0">
                <a:solidFill>
                  <a:srgbClr val="17634D"/>
                </a:solidFill>
                <a:latin typeface="Arial"/>
                <a:ea typeface="Arial"/>
                <a:cs typeface="Arial"/>
              </a:defRPr>
            </a:lvl3pPr>
            <a:lvl4pPr>
              <a:defRPr sz="2400" b="0">
                <a:solidFill>
                  <a:srgbClr val="17634D"/>
                </a:solidFill>
                <a:latin typeface="Arial"/>
                <a:ea typeface="Arial"/>
                <a:cs typeface="Arial"/>
              </a:defRPr>
            </a:lvl4pPr>
            <a:lvl5pPr>
              <a:defRPr sz="2400" b="0">
                <a:solidFill>
                  <a:srgbClr val="17634D"/>
                </a:solidFill>
                <a:latin typeface="Arial"/>
                <a:ea typeface="Arial"/>
                <a:cs typeface="Arial"/>
              </a:defRPr>
            </a:lvl5pPr>
            <a:lvl6pPr>
              <a:defRPr sz="2400" b="0">
                <a:solidFill>
                  <a:srgbClr val="17634D"/>
                </a:solidFill>
                <a:latin typeface="Arial"/>
                <a:ea typeface="Arial"/>
                <a:cs typeface="Arial"/>
              </a:defRPr>
            </a:lvl6pPr>
            <a:lvl7pPr>
              <a:defRPr sz="2400" b="0">
                <a:solidFill>
                  <a:srgbClr val="17634D"/>
                </a:solidFill>
                <a:latin typeface="Arial"/>
                <a:ea typeface="Arial"/>
                <a:cs typeface="Arial"/>
              </a:defRPr>
            </a:lvl7pPr>
            <a:lvl8pPr>
              <a:defRPr sz="2400" b="0">
                <a:solidFill>
                  <a:srgbClr val="17634D"/>
                </a:solidFill>
                <a:latin typeface="Arial"/>
                <a:ea typeface="Arial"/>
                <a:cs typeface="Arial"/>
              </a:defRPr>
            </a:lvl8pPr>
            <a:lvl9pPr>
              <a:defRPr sz="2400" b="0">
                <a:solidFill>
                  <a:srgbClr val="17634D"/>
                </a:solidFill>
                <a:latin typeface="Arial"/>
                <a:ea typeface="Arial"/>
                <a:cs typeface="Arial"/>
              </a:defRPr>
            </a:lvl9pPr>
          </a:lstStyle>
          <a:p xmlns:a="http://schemas.openxmlformats.org/drawingml/2006/main">
            <a:pPr>
              <a:defRPr sz="2400" b="0">
                <a:solidFill>
                  <a:srgbClr val="17634D"/>
                </a:solidFill>
                <a:latin typeface="Arial"/>
                <a:ea typeface="Arial"/>
                <a:cs typeface="Arial"/>
              </a:defRPr>
            </a:pPr>
            <a:r>
              <a:rPr sz="2400" b="0">
                <a:solidFill>
                  <a:srgbClr val="17634D"/>
                </a:solidFill>
                <a:latin typeface="Arial"/>
                <a:ea typeface="Arial"/>
                <a:cs typeface="Arial"/>
              </a:rPr>
              <a:t>Pilot measures: repeated questions, staff review time</a:t>
            </a:r>
          </a:p>
          <a:p xmlns:a="http://schemas.openxmlformats.org/drawingml/2006/main">
            <a:pPr>
              <a:defRPr sz="2400" b="0">
                <a:solidFill>
                  <a:srgbClr val="17634D"/>
                </a:solidFill>
                <a:latin typeface="Arial"/>
                <a:ea typeface="Arial"/>
                <a:cs typeface="Arial"/>
              </a:defRPr>
            </a:pPr>
            <a:r>
              <a:rPr sz="2400" b="0">
                <a:solidFill>
                  <a:srgbClr val="17634D"/>
                </a:solidFill>
                <a:latin typeface="Arial"/>
                <a:ea typeface="Arial"/>
                <a:cs typeface="Arial"/>
              </a:rPr>
              <a:t>and application completion.</a:t>
            </a:r>
          </a:p>
        </p:txBody>
      </p:sp>
      <p:sp>
        <p:nvSpPr>
          <p:cNvPr id="5" name="">
            <a:extLst xmlns:a="http://schemas.openxmlformats.org/drawingml/2006/main">
              <a:ext uri="{FF2B5EF4-FFF2-40B4-BE49-F238E27FC236}">
                <a16:creationId xmlns:a16="http://schemas.microsoft.com/office/drawing/2014/main" id="{EC2C688D-89A8-446B-BF7D-2C81EED576A0}"/>
              </a:ext>
            </a:extLst>
          </p:cNvPr>
          <p:cNvSpPr>
            <a:spLocks xmlns:a="http://schemas.openxmlformats.org/drawingml/2006/main" noGrp="1"/>
          </p:cNvSpPr>
          <p:nvPr/>
        </p:nvSpPr>
        <p:spPr>
          <a:xfrm xmlns:a="http://schemas.openxmlformats.org/drawingml/2006/main">
            <a:off x="685800" y="61150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86960"/>
                </a:solidFill>
                <a:latin typeface="Arial"/>
                <a:ea typeface="Arial"/>
                <a:cs typeface="Arial"/>
              </a:defRPr>
            </a:defPPr>
            <a:lvl1pPr>
              <a:defRPr sz="1950" b="0">
                <a:solidFill>
                  <a:srgbClr val="586960"/>
                </a:solidFill>
                <a:latin typeface="Arial"/>
                <a:ea typeface="Arial"/>
                <a:cs typeface="Arial"/>
              </a:defRPr>
            </a:lvl1pPr>
            <a:lvl2pPr>
              <a:defRPr sz="1950" b="0">
                <a:solidFill>
                  <a:srgbClr val="586960"/>
                </a:solidFill>
                <a:latin typeface="Arial"/>
                <a:ea typeface="Arial"/>
                <a:cs typeface="Arial"/>
              </a:defRPr>
            </a:lvl2pPr>
            <a:lvl3pPr>
              <a:defRPr sz="1950" b="0">
                <a:solidFill>
                  <a:srgbClr val="586960"/>
                </a:solidFill>
                <a:latin typeface="Arial"/>
                <a:ea typeface="Arial"/>
                <a:cs typeface="Arial"/>
              </a:defRPr>
            </a:lvl3pPr>
            <a:lvl4pPr>
              <a:defRPr sz="1950" b="0">
                <a:solidFill>
                  <a:srgbClr val="586960"/>
                </a:solidFill>
                <a:latin typeface="Arial"/>
                <a:ea typeface="Arial"/>
                <a:cs typeface="Arial"/>
              </a:defRPr>
            </a:lvl4pPr>
            <a:lvl5pPr>
              <a:defRPr sz="1950" b="0">
                <a:solidFill>
                  <a:srgbClr val="586960"/>
                </a:solidFill>
                <a:latin typeface="Arial"/>
                <a:ea typeface="Arial"/>
                <a:cs typeface="Arial"/>
              </a:defRPr>
            </a:lvl5pPr>
            <a:lvl6pPr>
              <a:defRPr sz="1950" b="0">
                <a:solidFill>
                  <a:srgbClr val="586960"/>
                </a:solidFill>
                <a:latin typeface="Arial"/>
                <a:ea typeface="Arial"/>
                <a:cs typeface="Arial"/>
              </a:defRPr>
            </a:lvl6pPr>
            <a:lvl7pPr>
              <a:defRPr sz="1950" b="0">
                <a:solidFill>
                  <a:srgbClr val="586960"/>
                </a:solidFill>
                <a:latin typeface="Arial"/>
                <a:ea typeface="Arial"/>
                <a:cs typeface="Arial"/>
              </a:defRPr>
            </a:lvl7pPr>
            <a:lvl8pPr>
              <a:defRPr sz="1950" b="0">
                <a:solidFill>
                  <a:srgbClr val="586960"/>
                </a:solidFill>
                <a:latin typeface="Arial"/>
                <a:ea typeface="Arial"/>
                <a:cs typeface="Arial"/>
              </a:defRPr>
            </a:lvl8pPr>
            <a:lvl9pPr>
              <a:defRPr sz="1950" b="0">
                <a:solidFill>
                  <a:srgbClr val="586960"/>
                </a:solidFill>
                <a:latin typeface="Arial"/>
                <a:ea typeface="Arial"/>
                <a:cs typeface="Arial"/>
              </a:defRPr>
            </a:lvl9pPr>
          </a:lstStyle>
          <a:p xmlns:a="http://schemas.openxmlformats.org/drawingml/2006/main">
            <a:pPr>
              <a:defRPr sz="1950" b="0">
                <a:solidFill>
                  <a:srgbClr val="586960"/>
                </a:solidFill>
                <a:latin typeface="Arial"/>
                <a:ea typeface="Arial"/>
                <a:cs typeface="Arial"/>
              </a:defRPr>
            </a:pPr>
            <a:r>
              <a:rPr sz="1950" b="0">
                <a:solidFill>
                  <a:srgbClr val="586960"/>
                </a:solidFill>
                <a:latin typeface="Arial"/>
                <a:ea typeface="Arial"/>
                <a:cs typeface="Arial"/>
              </a:rPr>
              <a:t>Next: payment validation and an approved institution pilot.</a:t>
            </a:r>
          </a:p>
        </p:txBody>
      </p:sp>
    </p:spTree>
    <p:extLst>
      <p:ext uri="{BB962C8B-B14F-4D97-AF65-F5344CB8AC3E}">
        <p14:creationId xmlns:p14="http://schemas.microsoft.com/office/powerpoint/2010/main" val="535096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2026-10-24T01:14:33.1780000Z</dcterms:created>
  <dcterms:modified xsi:type="dcterms:W3CDTF">2026-10-24T01:14:33.1780000Z</dcterms:modified>
</coreProperties>
</file>